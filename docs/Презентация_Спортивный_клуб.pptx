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.svg" ContentType="image/svg+xml"/>
  <Override PartName="/ppt/media/image4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1"/>
  </p:sldMasterIdLst>
  <p:notesMasterIdLst>
    <p:notesMasterId r:id="rId15"/>
  </p:notesMasterIdLst>
  <p:sldIdLst>
    <p:sldId id="332" r:id="rId2"/>
    <p:sldId id="322" r:id="rId3"/>
    <p:sldId id="323" r:id="rId4"/>
    <p:sldId id="324" r:id="rId5"/>
    <p:sldId id="325" r:id="rId6"/>
    <p:sldId id="340" r:id="rId22"/>
    <p:sldId id="333" r:id="rId7"/>
    <p:sldId id="341" r:id="rId23"/>
    <p:sldId id="342" r:id="rId24"/>
    <p:sldId id="336" r:id="rId9"/>
    <p:sldId id="343" r:id="rId25"/>
    <p:sldId id="337" r:id="rId8"/>
    <p:sldId id="338" r:id="rId10"/>
    <p:sldId id="344" r:id="rId26"/>
    <p:sldId id="345" r:id="rId27"/>
    <p:sldId id="348" r:id="rId30"/>
    <p:sldId id="335" r:id="rId11"/>
    <p:sldId id="346" r:id="rId28"/>
    <p:sldId id="339" r:id="rId12"/>
    <p:sldId id="347" r:id="rId29"/>
    <p:sldId id="334" r:id="rId13"/>
    <p:sldId id="329" r:id="rId14"/>
  </p:sldIdLst>
  <p:sldSz cx="12192000" cy="6858000"/>
  <p:notesSz cx="6858000" cy="9144000"/>
  <p:embeddedFontLst>
    <p:embeddedFont>
      <p:font typeface="KyivType Sans Heavy" panose="00000900000000000000" pitchFamily="2" charset="-52"/>
      <p:bold r:id="rId16"/>
    </p:embeddedFont>
    <p:embeddedFont>
      <p:font typeface="KyivType Sans Medium" panose="00000600000000000000" pitchFamily="2" charset="-52"/>
      <p:regular r:id="rId17"/>
    </p:embeddedFont>
  </p:embeddedFontLst>
  <p:defaultTextStyle>
    <a:defPPr>
      <a:defRPr lang="ru-RU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789F8"/>
    <a:srgbClr val="00FE5D"/>
    <a:srgbClr val="293DF4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A107856-5554-42FB-B03E-39F5DBC370BA}" styleName="Средний стиль 4 — акцент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0505E3EF-67EA-436B-97B2-0124C06EBD24}" styleName="Средний стиль 4 — акцент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C7853C-536D-4A76-A0AE-DD22124D55A5}" styleName="Стиль из темы 1 - акцент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06799F8-075E-4A3A-A7F6-7FBC6576F1A4}" styleName="Стиль из темы 2 - акцент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C083E6E3-FA7D-4D7B-A595-EF9225AFEA82}" styleName="Светлый стиль 1 — акцент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EB344D84-9AFB-497E-A393-DC336BA19D2E}" styleName="Средний стиль 3 — акцент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8799B23B-EC83-4686-B30A-512413B5E67A}" styleName="Светлый стиль 3 — акцент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6368" autoAdjust="0"/>
  </p:normalViewPr>
  <p:slideViewPr>
    <p:cSldViewPr snapToGrid="0" snapToObjects="1">
      <p:cViewPr varScale="1">
        <p:scale>
          <a:sx n="82" d="100"/>
          <a:sy n="82" d="100"/>
        </p:scale>
        <p:origin x="672" y="67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D87E6F76-8540-4E06-A304-0E0C8F168EB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0CBBD566-0E6A-4BEB-8A10-B1066FCE76AE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</a:defRPr>
            </a:lvl1pPr>
          </a:lstStyle>
          <a:p>
            <a:pPr>
              <a:defRPr/>
            </a:pPr>
            <a:fld id="{F9B0FD15-85C4-44BE-BE72-96CFC45279E3}" type="datetimeFigureOut">
              <a:rPr lang="ru-RU"/>
              <a:pPr>
                <a:defRPr/>
              </a:pPr>
              <a:t>26.10.2025</a:t>
            </a:fld>
            <a:endParaRPr lang="ru-RU"/>
          </a:p>
        </p:txBody>
      </p:sp>
      <p:sp>
        <p:nvSpPr>
          <p:cNvPr id="4" name="Образ слайда 3">
            <a:extLst>
              <a:ext uri="{FF2B5EF4-FFF2-40B4-BE49-F238E27FC236}">
                <a16:creationId xmlns:a16="http://schemas.microsoft.com/office/drawing/2014/main" id="{2408B4E9-9E08-416E-9DBB-31AA1F5888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ru-RU" noProof="0"/>
          </a:p>
        </p:txBody>
      </p:sp>
      <p:sp>
        <p:nvSpPr>
          <p:cNvPr id="5" name="Заметки 4">
            <a:extLst>
              <a:ext uri="{FF2B5EF4-FFF2-40B4-BE49-F238E27FC236}">
                <a16:creationId xmlns:a16="http://schemas.microsoft.com/office/drawing/2014/main" id="{12FFFAF8-3365-4D9D-9A59-6574DCF0096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noProof="0"/>
              <a:t>Образец текста</a:t>
            </a:r>
          </a:p>
          <a:p>
            <a:pPr lvl="1"/>
            <a:r>
              <a:rPr lang="ru-RU" noProof="0"/>
              <a:t>Второй уровень</a:t>
            </a:r>
          </a:p>
          <a:p>
            <a:pPr lvl="2"/>
            <a:r>
              <a:rPr lang="ru-RU" noProof="0"/>
              <a:t>Третий уровень</a:t>
            </a:r>
          </a:p>
          <a:p>
            <a:pPr lvl="3"/>
            <a:r>
              <a:rPr lang="ru-RU" noProof="0"/>
              <a:t>Четвертый уровень</a:t>
            </a:r>
          </a:p>
          <a:p>
            <a:pPr lvl="4"/>
            <a:r>
              <a:rPr lang="ru-RU" noProof="0"/>
              <a:t>Пятый уровень</a:t>
            </a:r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26CA1CF-1828-4AD4-96E7-B7E03FCB907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0F5AA51-D13A-439C-AB3E-7C80C120EE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</a:defRPr>
            </a:lvl1pPr>
          </a:lstStyle>
          <a:p>
            <a:pPr>
              <a:defRPr/>
            </a:pPr>
            <a:fld id="{289B5C42-149E-42C7-B6C0-EF2864EBCE85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Тема курсового проекта — информационная система спортивного клуба: учёт клиентов, записей на занятия, расписания, посещаемости и стоимости. QR-код ведёт на репозиторий проекта на GitHub.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Проблема: ручной учёт приводит к ошибкам. Решение: информационная система с правилами на уровне БД.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Цель, объект и предмет по вариантам курсового проекта.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Стек совпадает с курсом: Django и SQLite. Для проверки используется unittest и coverage, для CI/CD — GitHub Actions.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пункты задания реализованы. Единственное отличие — первичные ключи генерирует автоинкремент SQLite вместо отдельного триггера.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Ограничения защищают данные на уровне СУБД: скидка 3–10 %, даты абонемента, уникальность записи и посещения.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триггера: установка 60 минут, если длительность не указана, и запрет одиннадцатого участника в группе. Отменённая запись место не занимает.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Слои приложения: интерфейс, представления с проверкой ролей, формы и сервисы, модели ORM и SQLite. Бизнес-логика вынесена в сервисы и не зависит от HTTP, поэтому легко тестируется.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роли. Администратор добавляет операторов на странице «Пользователи».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Макет выходного документа по заданию и его реализация. Документ формируется по выбранному залу.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Форма авторизации и главная страница администратора. У оператора в меню нет справочников и пользователей.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Формы для всех восьми таблиц создаются универсальной фабрикой представлений.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Валидация: формат телефона, обязательные поля, ошибки ограничений БД показываются в форме.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Первый запрос из задания. В демо-данных 8 клиентов, 6 групп, 3 секции.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запрос из задания и расчёт стоимости занятий клиента с учётом абонемента.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63 теста на Python 3.9 с Django 4.2 и на Python 3.13 с Django 5.2: все проходят. Покрытие 98 %.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CI/CD настроен в .github/workflows/ci.yml. Репозиторий: github.com/Uzalov-Gamid/sport-club.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Расписание недели и главная страница с диаграммами.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Итоги работы и направления развития.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Спасибо за внимание. Готов ответить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Восемь таблиц: клиент, секция, тренер, зал, группа, запись, абонемент, посещение. Группа связывает секцию, тренера и зал; запись — клиента и группу.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15BA4B5-4E36-4F5D-BA9D-00CE4AA489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03A083F-CBCE-4151-84F1-F68EB80A3F7C}" type="datetimeFigureOut">
              <a:rPr lang="ru-RU"/>
              <a:pPr>
                <a:defRPr/>
              </a:pPr>
              <a:t>26.10.2025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62C02A4-EEBF-4722-BF1F-ABAF7CCB7B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2FC1EDB-72C0-43BD-943F-23E818232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26A4103-BEB4-4CD4-873F-A6A7C4CB048E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39480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84C0DF1-3338-446E-891A-10BD250008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D565B79-6690-4F8C-9B80-82DFE6F99E90}" type="datetimeFigureOut">
              <a:rPr lang="ru-RU"/>
              <a:pPr>
                <a:defRPr/>
              </a:pPr>
              <a:t>26.10.2025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AC56D3D-F3BE-4DFD-A3EA-42D0B386D7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4EBF8AF-6040-47C7-B885-7EDAA7C30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482FDD2-4DBF-43E2-97E4-DDC902C6D72D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43720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C21FEC4-A25B-445D-948F-64F20698D6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C536BA-153D-4673-906B-42F6EE297799}" type="datetimeFigureOut">
              <a:rPr lang="ru-RU"/>
              <a:pPr>
                <a:defRPr/>
              </a:pPr>
              <a:t>26.10.2025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E5ED163-6313-457A-A89A-DBEE48A9D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3BAC972-044A-407F-8ACA-27CEB5D33F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C6AFFB-175A-4F6E-B729-E1E32C74820B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891164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D875D2EF-DB53-4BEE-947B-1DCABEC16E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135939F-F447-4859-895B-7CD379D81A0B}" type="datetimeFigureOut">
              <a:rPr lang="ru-RU"/>
              <a:pPr>
                <a:defRPr/>
              </a:pPr>
              <a:t>26.10.2025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A5C6D1EF-57F9-4184-8F38-0C34BA537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ACA1E3F8-86B9-4381-AE9A-F9B967132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50080D9-3368-496F-B9B1-B7DC31600857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23228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3">
            <a:extLst>
              <a:ext uri="{FF2B5EF4-FFF2-40B4-BE49-F238E27FC236}">
                <a16:creationId xmlns:a16="http://schemas.microsoft.com/office/drawing/2014/main" id="{C98DB2A1-B860-499B-A9D3-327431A62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04D7486-02C4-46EE-9756-E897201AB6E3}" type="datetimeFigureOut">
              <a:rPr lang="ru-RU"/>
              <a:pPr>
                <a:defRPr/>
              </a:pPr>
              <a:t>26.10.2025</a:t>
            </a:fld>
            <a:endParaRPr lang="ru-RU"/>
          </a:p>
        </p:txBody>
      </p:sp>
      <p:sp>
        <p:nvSpPr>
          <p:cNvPr id="8" name="Нижний колонтитул 4">
            <a:extLst>
              <a:ext uri="{FF2B5EF4-FFF2-40B4-BE49-F238E27FC236}">
                <a16:creationId xmlns:a16="http://schemas.microsoft.com/office/drawing/2014/main" id="{78E3DFA7-2664-4CC1-9C5D-2AE8163C69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" name="Номер слайда 5">
            <a:extLst>
              <a:ext uri="{FF2B5EF4-FFF2-40B4-BE49-F238E27FC236}">
                <a16:creationId xmlns:a16="http://schemas.microsoft.com/office/drawing/2014/main" id="{5CEBFFA1-0715-423D-B657-9E3D6D2167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ADC5051-C1A1-4FF1-AD64-91773D064C77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643049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3">
            <a:extLst>
              <a:ext uri="{FF2B5EF4-FFF2-40B4-BE49-F238E27FC236}">
                <a16:creationId xmlns:a16="http://schemas.microsoft.com/office/drawing/2014/main" id="{AA9250C6-BC9F-4C7C-9A38-A846E317E5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6BBE144-A518-46D4-A3D3-5B26AC5A70FC}" type="datetimeFigureOut">
              <a:rPr lang="ru-RU"/>
              <a:pPr>
                <a:defRPr/>
              </a:pPr>
              <a:t>26.10.2025</a:t>
            </a:fld>
            <a:endParaRPr lang="ru-RU"/>
          </a:p>
        </p:txBody>
      </p:sp>
      <p:sp>
        <p:nvSpPr>
          <p:cNvPr id="4" name="Нижний колонтитул 4">
            <a:extLst>
              <a:ext uri="{FF2B5EF4-FFF2-40B4-BE49-F238E27FC236}">
                <a16:creationId xmlns:a16="http://schemas.microsoft.com/office/drawing/2014/main" id="{68FE42DD-6754-480C-9271-287D2118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D97A4645-6761-419A-807F-253961375A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197AF17-04B7-470F-AAC4-389DD9D49AFD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35671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3">
            <a:extLst>
              <a:ext uri="{FF2B5EF4-FFF2-40B4-BE49-F238E27FC236}">
                <a16:creationId xmlns:a16="http://schemas.microsoft.com/office/drawing/2014/main" id="{C397D5F4-E8F1-45F8-AEE4-B1F69EB95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F483DF9-1B82-47D1-A315-3B91E2813040}" type="datetimeFigureOut">
              <a:rPr lang="ru-RU"/>
              <a:pPr>
                <a:defRPr/>
              </a:pPr>
              <a:t>26.10.2025</a:t>
            </a:fld>
            <a:endParaRPr lang="ru-RU"/>
          </a:p>
        </p:txBody>
      </p:sp>
      <p:sp>
        <p:nvSpPr>
          <p:cNvPr id="3" name="Нижний колонтитул 4">
            <a:extLst>
              <a:ext uri="{FF2B5EF4-FFF2-40B4-BE49-F238E27FC236}">
                <a16:creationId xmlns:a16="http://schemas.microsoft.com/office/drawing/2014/main" id="{F0D3602C-FAB3-4557-8A8E-3D5F11D12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" name="Номер слайда 5">
            <a:extLst>
              <a:ext uri="{FF2B5EF4-FFF2-40B4-BE49-F238E27FC236}">
                <a16:creationId xmlns:a16="http://schemas.microsoft.com/office/drawing/2014/main" id="{9E018709-17AA-4064-92D4-706608EBD5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60F2884-6AB9-4798-936F-2B0A65303D61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67895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40F8EF8B-33A0-4B98-874B-95BA7DD532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9267B48-A092-46D9-8EA5-AFE73504FE0E}" type="datetimeFigureOut">
              <a:rPr lang="ru-RU"/>
              <a:pPr>
                <a:defRPr/>
              </a:pPr>
              <a:t>26.10.2025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176B246B-12EE-41E4-AE7B-0EF0DDECD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282EAC51-7782-4E9D-988A-4B6DE1A242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74C7780-06D1-427D-80C7-A604DBC65307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509076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ru-RU" noProof="0"/>
              <a:t>Вставка рисунка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ED943F8A-D445-4D07-BEC0-305E24BBEC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E691647-C8AD-48AE-BFC4-A28E9BB6F421}" type="datetimeFigureOut">
              <a:rPr lang="ru-RU"/>
              <a:pPr>
                <a:defRPr/>
              </a:pPr>
              <a:t>26.10.2025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D4217D56-4004-43E4-87D8-F52DAD005C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E0BBB2E6-319E-4E6D-945D-F47E2C4CAE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6EE76B5-54B0-4960-BDA8-9299F5A95D16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868850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1C4B4BD-2937-40F2-B8EB-06F97B1D69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A0E7F8B-2442-4AFC-A6D3-B723CCE6BA73}" type="datetimeFigureOut">
              <a:rPr lang="ru-RU"/>
              <a:pPr>
                <a:defRPr/>
              </a:pPr>
              <a:t>26.10.2025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32ACDB5-A6E1-4178-8247-1D43AE1B7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8A877FF-3B5B-4135-8040-901177308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4D227C-F957-4E6F-80E6-5E3F72CCC3A5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85089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9C53387-AB1C-41DA-9D18-5EF04B821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F41FCF1-25CD-4225-8B77-8FEDF4ABE325}" type="datetimeFigureOut">
              <a:rPr lang="ru-RU"/>
              <a:pPr>
                <a:defRPr/>
              </a:pPr>
              <a:t>26.10.2025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FC5C35E-4888-4FC1-BEB9-D0F5F16E0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A864F7A-C3C0-4734-8A2D-6AE70064BF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D698027-0C96-4F94-BDCD-8E7E2E6C0715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432763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Заголовок 1">
            <a:extLst>
              <a:ext uri="{FF2B5EF4-FFF2-40B4-BE49-F238E27FC236}">
                <a16:creationId xmlns:a16="http://schemas.microsoft.com/office/drawing/2014/main" id="{39DAEE72-CEFD-4E80-A46F-3358C333B34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ru-RU" altLang="ru-RU"/>
              <a:t>Образец заголовка</a:t>
            </a:r>
          </a:p>
        </p:txBody>
      </p:sp>
      <p:sp>
        <p:nvSpPr>
          <p:cNvPr id="1027" name="Текст 2">
            <a:extLst>
              <a:ext uri="{FF2B5EF4-FFF2-40B4-BE49-F238E27FC236}">
                <a16:creationId xmlns:a16="http://schemas.microsoft.com/office/drawing/2014/main" id="{693E1B86-B81D-4544-AA6F-562C56D7C1A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ru-RU" altLang="ru-RU"/>
              <a:t>Образец текста</a:t>
            </a:r>
          </a:p>
          <a:p>
            <a:pPr lvl="1"/>
            <a:r>
              <a:rPr lang="ru-RU" altLang="ru-RU"/>
              <a:t>Второй уровень</a:t>
            </a:r>
          </a:p>
          <a:p>
            <a:pPr lvl="2"/>
            <a:r>
              <a:rPr lang="ru-RU" altLang="ru-RU"/>
              <a:t>Третий уровень</a:t>
            </a:r>
          </a:p>
          <a:p>
            <a:pPr lvl="3"/>
            <a:r>
              <a:rPr lang="ru-RU" altLang="ru-RU"/>
              <a:t>Четвертый уровень</a:t>
            </a:r>
          </a:p>
          <a:p>
            <a:pPr lvl="4"/>
            <a:r>
              <a:rPr lang="ru-RU" alt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5121151-B8A8-4EF2-AF50-3FE757BF5B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8323B16D-E927-4C77-B2E9-E87E4CA9289D}" type="datetimeFigureOut">
              <a:rPr lang="ru-RU"/>
              <a:pPr>
                <a:defRPr/>
              </a:pPr>
              <a:t>26.10.2025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662D88E-BD9E-44F2-B408-F59F88C7D4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0C0FBD2-6663-42A2-B83F-D9E2D1B7E5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BEF9D80C-D0B1-4F1D-B1F9-F1B97B9980CB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2pPr>
      <a:lvl3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3pPr>
      <a:lvl4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4pPr>
      <a:lvl5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5pPr>
      <a:lvl6pPr marL="4572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6pPr>
      <a:lvl7pPr marL="9144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7pPr>
      <a:lvl8pPr marL="13716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8pPr>
      <a:lvl9pPr marL="18288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9pPr>
    </p:titleStyle>
    <p:bodyStyle>
      <a:lvl1pPr marL="228600" indent="-228600" algn="l" rtl="0" eaLnBrk="1" fontAlgn="base" hangingPunct="1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9.png"/><Relationship Id="rId9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23.png"/><Relationship Id="rId4" Type="http://schemas.openxmlformats.org/officeDocument/2006/relationships/notesSlide" Target="../notesSlides/notesSlide2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1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1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E9472D1-0321-474C-B9AB-194B8EC67AC4}"/>
              </a:ext>
            </a:extLst>
          </p:cNvPr>
          <p:cNvSpPr txBox="1"/>
          <p:nvPr/>
        </p:nvSpPr>
        <p:spPr>
          <a:xfrm>
            <a:off x="3987378" y="283058"/>
            <a:ext cx="49912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solidFill>
                  <a:schemeClr val="bg1"/>
                </a:solidFill>
                <a:latin typeface="KyivType Sans Medium" panose="00000600000000000000" pitchFamily="50" charset="-52"/>
              </a:rPr>
              <a:t>КОЛЛЕДЖ МИРОВОЙ ЭКОНОМИКИ</a:t>
            </a:r>
          </a:p>
          <a:p>
            <a:pPr algn="ctr"/>
            <a:r>
              <a:rPr lang="ru-RU" sz="1400" dirty="0">
                <a:solidFill>
                  <a:schemeClr val="bg1"/>
                </a:solidFill>
                <a:latin typeface="KyivType Sans Medium" panose="00000600000000000000" pitchFamily="50" charset="-52"/>
              </a:rPr>
              <a:t>И ПЕРЕДОВЫХ ТЕХНОЛОГИЙ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2788490" y="1219200"/>
            <a:ext cx="855355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dirty="0">
                <a:solidFill>
                  <a:srgbClr val="FFFFFF"/>
                </a:solidFill>
                <a:latin typeface="KyivType Sans Heavy" panose="00000900000000000000" pitchFamily="50" charset="-52"/>
              </a:rPr>
              <a:t>Курсовой проект по теме: </a:t>
            </a:r>
          </a:p>
          <a:p>
            <a:pPr algn="ctr"/>
            <a:r>
              <a:rPr lang="ru-RU" sz="2400" dirty="0">
                <a:solidFill>
                  <a:srgbClr val="FFFFFF"/>
                </a:solidFill>
                <a:latin typeface="KyivType Sans Heavy" panose="00000900000000000000" pitchFamily="50" charset="-52"/>
              </a:rPr>
              <a:t>«Разработка информационной системы учёта занятий и посещаемости спортивного клуба»</a:t>
            </a:r>
          </a:p>
        </p:txBody>
      </p:sp>
      <p:grpSp>
        <p:nvGrpSpPr>
          <p:cNvPr id="25" name="Группа 24">
            <a:extLst>
              <a:ext uri="{FF2B5EF4-FFF2-40B4-BE49-F238E27FC236}">
                <a16:creationId xmlns:a16="http://schemas.microsoft.com/office/drawing/2014/main" id="{13B95FCF-060F-4BED-94B3-9A3D4ABF1839}"/>
              </a:ext>
            </a:extLst>
          </p:cNvPr>
          <p:cNvGrpSpPr/>
          <p:nvPr/>
        </p:nvGrpSpPr>
        <p:grpSpPr>
          <a:xfrm rot="16200000">
            <a:off x="11028501" y="5726820"/>
            <a:ext cx="1123399" cy="609870"/>
            <a:chOff x="2134722" y="1799378"/>
            <a:chExt cx="687121" cy="373024"/>
          </a:xfrm>
        </p:grpSpPr>
        <p:cxnSp>
          <p:nvCxnSpPr>
            <p:cNvPr id="17" name="Прямая соединительная линия 16">
              <a:extLst>
                <a:ext uri="{FF2B5EF4-FFF2-40B4-BE49-F238E27FC236}">
                  <a16:creationId xmlns:a16="http://schemas.microsoft.com/office/drawing/2014/main" id="{4C31F697-6AFB-44ED-8355-BD7758533AEE}"/>
                </a:ext>
              </a:extLst>
            </p:cNvPr>
            <p:cNvCxnSpPr/>
            <p:nvPr/>
          </p:nvCxnSpPr>
          <p:spPr>
            <a:xfrm>
              <a:off x="2134722" y="1986686"/>
              <a:ext cx="675372" cy="0"/>
            </a:xfrm>
            <a:prstGeom prst="line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Прямая соединительная линия 18">
              <a:extLst>
                <a:ext uri="{FF2B5EF4-FFF2-40B4-BE49-F238E27FC236}">
                  <a16:creationId xmlns:a16="http://schemas.microsoft.com/office/drawing/2014/main" id="{7DF8EB41-A9EF-4708-938C-A7DC708F6D3A}"/>
                </a:ext>
              </a:extLst>
            </p:cNvPr>
            <p:cNvCxnSpPr/>
            <p:nvPr/>
          </p:nvCxnSpPr>
          <p:spPr>
            <a:xfrm flipH="1" flipV="1">
              <a:off x="2630257" y="1799378"/>
              <a:ext cx="191586" cy="191586"/>
            </a:xfrm>
            <a:prstGeom prst="line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Прямая соединительная линия 21">
              <a:extLst>
                <a:ext uri="{FF2B5EF4-FFF2-40B4-BE49-F238E27FC236}">
                  <a16:creationId xmlns:a16="http://schemas.microsoft.com/office/drawing/2014/main" id="{CDEBD25D-3DD4-4488-AEC8-1A116B2AC86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30255" y="1980816"/>
              <a:ext cx="191586" cy="191586"/>
            </a:xfrm>
            <a:prstGeom prst="line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Арка 17">
            <a:extLst>
              <a:ext uri="{FF2B5EF4-FFF2-40B4-BE49-F238E27FC236}">
                <a16:creationId xmlns:a16="http://schemas.microsoft.com/office/drawing/2014/main" id="{C66A924E-91C5-4892-B9F5-558DACD8783D}"/>
              </a:ext>
            </a:extLst>
          </p:cNvPr>
          <p:cNvSpPr/>
          <p:nvPr/>
        </p:nvSpPr>
        <p:spPr>
          <a:xfrm>
            <a:off x="9833317" y="452465"/>
            <a:ext cx="1643458" cy="1643458"/>
          </a:xfrm>
          <a:prstGeom prst="blockArc">
            <a:avLst/>
          </a:prstGeom>
          <a:noFill/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F46E2630-7CEC-4BD1-BB07-175F7A1FB2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146756" y="3666585"/>
            <a:ext cx="1435149" cy="1435149"/>
          </a:xfrm>
          <a:prstGeom prst="rect">
            <a:avLst/>
          </a:prstGeom>
        </p:spPr>
      </p:pic>
      <p:grpSp>
        <p:nvGrpSpPr>
          <p:cNvPr id="20" name="Группа 19">
            <a:extLst>
              <a:ext uri="{FF2B5EF4-FFF2-40B4-BE49-F238E27FC236}">
                <a16:creationId xmlns:a16="http://schemas.microsoft.com/office/drawing/2014/main" id="{CCF634F4-7F6A-4568-9ECD-62C48BFE21E1}"/>
              </a:ext>
            </a:extLst>
          </p:cNvPr>
          <p:cNvGrpSpPr/>
          <p:nvPr/>
        </p:nvGrpSpPr>
        <p:grpSpPr>
          <a:xfrm rot="2700000">
            <a:off x="252778" y="287612"/>
            <a:ext cx="871348" cy="473037"/>
            <a:chOff x="2134722" y="1799378"/>
            <a:chExt cx="687121" cy="373024"/>
          </a:xfrm>
        </p:grpSpPr>
        <p:cxnSp>
          <p:nvCxnSpPr>
            <p:cNvPr id="21" name="Прямая соединительная линия 20">
              <a:extLst>
                <a:ext uri="{FF2B5EF4-FFF2-40B4-BE49-F238E27FC236}">
                  <a16:creationId xmlns:a16="http://schemas.microsoft.com/office/drawing/2014/main" id="{AB613FC0-F45E-4828-B3C2-9A8DC54A4179}"/>
                </a:ext>
              </a:extLst>
            </p:cNvPr>
            <p:cNvCxnSpPr/>
            <p:nvPr/>
          </p:nvCxnSpPr>
          <p:spPr>
            <a:xfrm>
              <a:off x="2134722" y="1986686"/>
              <a:ext cx="675372" cy="0"/>
            </a:xfrm>
            <a:prstGeom prst="line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Прямая соединительная линия 22">
              <a:extLst>
                <a:ext uri="{FF2B5EF4-FFF2-40B4-BE49-F238E27FC236}">
                  <a16:creationId xmlns:a16="http://schemas.microsoft.com/office/drawing/2014/main" id="{99F2D6C2-C5C3-45C2-B111-A70CF2112180}"/>
                </a:ext>
              </a:extLst>
            </p:cNvPr>
            <p:cNvCxnSpPr/>
            <p:nvPr/>
          </p:nvCxnSpPr>
          <p:spPr>
            <a:xfrm flipH="1" flipV="1">
              <a:off x="2630257" y="1799378"/>
              <a:ext cx="191586" cy="191586"/>
            </a:xfrm>
            <a:prstGeom prst="line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Прямая соединительная линия 23">
              <a:extLst>
                <a:ext uri="{FF2B5EF4-FFF2-40B4-BE49-F238E27FC236}">
                  <a16:creationId xmlns:a16="http://schemas.microsoft.com/office/drawing/2014/main" id="{3F8F4390-07DD-433F-8006-3083EAFAF9B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30255" y="1980816"/>
              <a:ext cx="191586" cy="191586"/>
            </a:xfrm>
            <a:prstGeom prst="line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2F1B21EB-ADF6-436A-8087-0C82CB036AB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55208" y="5101734"/>
            <a:ext cx="1491721" cy="1491721"/>
          </a:xfrm>
          <a:prstGeom prst="rect">
            <a:avLst/>
          </a:prstGeom>
        </p:spPr>
      </p:pic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2788490" y="2828836"/>
            <a:ext cx="7044827" cy="1569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45085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sz="1600" dirty="0">
                <a:solidFill>
                  <a:srgbClr val="FFFFFF"/>
                </a:solidFill>
                <a:latin typeface="KyivType Sans Medium" panose="00000600000000000000" pitchFamily="50" charset="-52"/>
              </a:rPr>
              <a:t>студента очной формы обучения</a:t>
            </a:r>
          </a:p>
          <a:p>
            <a:pPr marL="0" marR="0" lvl="0" indent="45085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sz="1600" dirty="0">
                <a:solidFill>
                  <a:srgbClr val="FFFFFF"/>
                </a:solidFill>
                <a:latin typeface="KyivType Sans Medium" panose="00000600000000000000" pitchFamily="50" charset="-52"/>
              </a:rPr>
              <a:t>специальности</a:t>
            </a:r>
            <a:r>
              <a:rPr lang="ru-RU" sz="1600" dirty="0">
                <a:solidFill>
                  <a:srgbClr val="FFFFFF"/>
                </a:solidFill>
                <a:latin typeface="KyivType Sans Medium" panose="00000600000000000000" pitchFamily="50" charset="-52"/>
              </a:rPr>
              <a:t> </a:t>
            </a:r>
            <a:endParaRPr lang="ru-RU" sz="1600" dirty="0">
              <a:solidFill>
                <a:schemeClr val="bg1"/>
              </a:solidFill>
              <a:latin typeface="KyivType Sans Medium" panose="00000600000000000000" pitchFamily="50" charset="-52"/>
            </a:endParaRPr>
          </a:p>
          <a:p>
            <a:pPr marL="0" marR="0" lvl="0" indent="45085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sz="1600" dirty="0">
                <a:solidFill>
                  <a:srgbClr val="FFFFFF"/>
                </a:solidFill>
                <a:latin typeface="KyivType Sans Medium" panose="00000600000000000000" pitchFamily="50" charset="-52"/>
              </a:rPr>
              <a:t>09.02.07 Информационные системы и программирование,</a:t>
            </a:r>
          </a:p>
          <a:p>
            <a:pPr marL="0" marR="0" lvl="0" indent="45085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sz="1600" dirty="0">
                <a:solidFill>
                  <a:srgbClr val="FFFFFF"/>
                </a:solidFill>
                <a:latin typeface="KyivType Sans Medium" panose="00000600000000000000" pitchFamily="50" charset="-52"/>
              </a:rPr>
              <a:t>квалификация программист</a:t>
            </a:r>
          </a:p>
          <a:p>
            <a:pPr marL="0" marR="0" lvl="0" indent="45085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sz="1600" dirty="0">
                <a:solidFill>
                  <a:srgbClr val="FFFFFF"/>
                </a:solidFill>
                <a:latin typeface="KyivType Sans Medium" panose="00000600000000000000" pitchFamily="50" charset="-52"/>
              </a:rPr>
              <a:t>3 курса группы  о-П </a:t>
            </a:r>
            <a:r>
              <a:rPr lang="ru-RU" sz="1600" dirty="0">
                <a:solidFill>
                  <a:srgbClr val="FFFFFF"/>
                </a:solidFill>
                <a:latin typeface="KyivType Sans Medium" panose="00000600000000000000" pitchFamily="50" charset="-52"/>
              </a:rPr>
              <a:t>1125</a:t>
            </a:r>
          </a:p>
          <a:p>
            <a:pPr marL="0" marR="0" lvl="0" indent="45085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sz="1600" dirty="0">
                <a:solidFill>
                  <a:srgbClr val="FFFFFF"/>
                </a:solidFill>
                <a:latin typeface="KyivType Sans Medium" panose="00000600000000000000" pitchFamily="50" charset="-52"/>
              </a:rPr>
              <a:t>Узалова Гамида Иманалиевича</a:t>
            </a:r>
          </a:p>
        </p:txBody>
      </p:sp>
      <p:sp>
        <p:nvSpPr>
          <p:cNvPr id="8195" name="Rectangle 3"/>
          <p:cNvSpPr>
            <a:spLocks noChangeArrowheads="1"/>
          </p:cNvSpPr>
          <p:nvPr/>
        </p:nvSpPr>
        <p:spPr bwMode="auto">
          <a:xfrm>
            <a:off x="1989667" y="5101734"/>
            <a:ext cx="5762571" cy="584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sz="1600" dirty="0">
                <a:solidFill>
                  <a:schemeClr val="bg1"/>
                </a:solidFill>
                <a:latin typeface="KyivType Sans Medium" panose="00000600000000000000" pitchFamily="50" charset="-52"/>
              </a:rPr>
              <a:t>Руководитель курсового проекта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sz="1600">
                <a:solidFill>
                  <a:schemeClr val="bg1"/>
                </a:solidFill>
                <a:latin typeface="KyivType Sans Medium" panose="00000600000000000000" pitchFamily="50" charset="-52"/>
              </a:rPr>
              <a:t>преподаватель: Евдошенко Наиля Ильнуровна</a:t>
            </a:r>
            <a:r>
              <a:rPr lang="ru-RU" sz="1600" dirty="0" err="1">
                <a:solidFill>
                  <a:schemeClr val="bg1"/>
                </a:solidFill>
                <a:latin typeface="KyivType Sans Medium" panose="00000600000000000000" pitchFamily="50" charset="-52"/>
              </a:rPr>
              <a:t/>
            </a:r>
            <a:r>
              <a:rPr lang="ru-RU" sz="1600" dirty="0">
                <a:solidFill>
                  <a:schemeClr val="bg1"/>
                </a:solidFill>
                <a:latin typeface="KyivType Sans Medium" panose="00000600000000000000" pitchFamily="50" charset="-52"/>
              </a:rPr>
              <a:t/>
            </a:r>
            <a:r>
              <a:rPr lang="ru-RU" sz="1600" dirty="0" err="1">
                <a:solidFill>
                  <a:schemeClr val="bg1"/>
                </a:solidFill>
                <a:latin typeface="KyivType Sans Medium" panose="00000600000000000000" pitchFamily="50" charset="-52"/>
              </a:rPr>
              <a:t/>
            </a:r>
            <a:endParaRPr lang="ru-RU" sz="1600" dirty="0">
              <a:solidFill>
                <a:schemeClr val="bg1"/>
              </a:solidFill>
              <a:latin typeface="KyivType Sans Medium" panose="00000600000000000000" pitchFamily="50" charset="-52"/>
            </a:endParaRPr>
          </a:p>
        </p:txBody>
      </p:sp>
      <p:sp>
        <p:nvSpPr>
          <p:cNvPr id="30" name="Прямоугольник 29"/>
          <p:cNvSpPr/>
          <p:nvPr/>
        </p:nvSpPr>
        <p:spPr>
          <a:xfrm>
            <a:off x="5683748" y="6199408"/>
            <a:ext cx="1598515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>
                <a:solidFill>
                  <a:schemeClr val="bg1"/>
                </a:solidFill>
                <a:latin typeface="KyivType Sans Medium" panose="00000600000000000000" pitchFamily="50" charset="-52"/>
              </a:rPr>
              <a:t>Москва 2026</a:t>
            </a:r>
            <a:endParaRPr lang="ru-RU" sz="1600" dirty="0">
              <a:solidFill>
                <a:schemeClr val="bg1"/>
              </a:solidFill>
              <a:latin typeface="KyivType Sans Medium" panose="00000600000000000000" pitchFamily="50" charset="-52"/>
            </a:endParaRPr>
          </a:p>
        </p:txBody>
      </p:sp>
      <p:pic>
        <p:nvPicPr>
          <p:cNvPr id="8196" name="Picture 8195" descr="q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5271" y="1509712"/>
            <a:ext cx="1400176" cy="1400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48079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2344274" y="351221"/>
            <a:ext cx="678583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Актуальность темы исследования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FBA19B-59AD-4125-9DF3-AD4E63090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4" name="Группа 23">
            <a:extLst>
              <a:ext uri="{FF2B5EF4-FFF2-40B4-BE49-F238E27FC236}">
                <a16:creationId xmlns:a16="http://schemas.microsoft.com/office/drawing/2014/main" id="{C8B95BEE-DFCF-40B1-B13A-160E43EF38B8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8DBFEE1B-FAD5-4785-9E3B-5329244047C0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116ABA84-9B91-4724-A844-6CD10C6031B7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BC4176F-C3AC-474A-8131-820DF2AA1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Группа 11">
            <a:extLst>
              <a:ext uri="{FF2B5EF4-FFF2-40B4-BE49-F238E27FC236}">
                <a16:creationId xmlns:a16="http://schemas.microsoft.com/office/drawing/2014/main" id="{D9A500C0-0417-4B60-B4B3-048C31C64F05}"/>
              </a:ext>
            </a:extLst>
          </p:cNvPr>
          <p:cNvGrpSpPr/>
          <p:nvPr/>
        </p:nvGrpSpPr>
        <p:grpSpPr>
          <a:xfrm>
            <a:off x="9752845" y="1338568"/>
            <a:ext cx="1321030" cy="1418885"/>
            <a:chOff x="8545421" y="1418146"/>
            <a:chExt cx="1434651" cy="1540922"/>
          </a:xfrm>
          <a:gradFill>
            <a:gsLst>
              <a:gs pos="0">
                <a:srgbClr val="293DF4"/>
              </a:gs>
              <a:gs pos="100000">
                <a:srgbClr val="00FE5D"/>
              </a:gs>
            </a:gsLst>
            <a:lin ang="0" scaled="0"/>
          </a:gradFill>
        </p:grpSpPr>
        <p:sp>
          <p:nvSpPr>
            <p:cNvPr id="4" name="Прямоугольник 3">
              <a:extLst>
                <a:ext uri="{FF2B5EF4-FFF2-40B4-BE49-F238E27FC236}">
                  <a16:creationId xmlns:a16="http://schemas.microsoft.com/office/drawing/2014/main" id="{FF9A5CD6-765E-48F3-9ACA-8E642A13ADA7}"/>
                </a:ext>
              </a:extLst>
            </p:cNvPr>
            <p:cNvSpPr/>
            <p:nvPr/>
          </p:nvSpPr>
          <p:spPr>
            <a:xfrm>
              <a:off x="9209611" y="1418146"/>
              <a:ext cx="770461" cy="77046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Хорда 7">
              <a:extLst>
                <a:ext uri="{FF2B5EF4-FFF2-40B4-BE49-F238E27FC236}">
                  <a16:creationId xmlns:a16="http://schemas.microsoft.com/office/drawing/2014/main" id="{40FE03EF-F754-42FE-925A-9D884273C890}"/>
                </a:ext>
              </a:extLst>
            </p:cNvPr>
            <p:cNvSpPr/>
            <p:nvPr/>
          </p:nvSpPr>
          <p:spPr>
            <a:xfrm rot="10800000">
              <a:off x="9209611" y="2188607"/>
              <a:ext cx="770461" cy="770461"/>
            </a:xfrm>
            <a:prstGeom prst="chord">
              <a:avLst>
                <a:gd name="adj1" fmla="val 7775"/>
                <a:gd name="adj2" fmla="val 10808635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Равнобедренный треугольник 9">
              <a:extLst>
                <a:ext uri="{FF2B5EF4-FFF2-40B4-BE49-F238E27FC236}">
                  <a16:creationId xmlns:a16="http://schemas.microsoft.com/office/drawing/2014/main" id="{BE5045CC-0FF1-4214-BD99-445DEEE5945E}"/>
                </a:ext>
              </a:extLst>
            </p:cNvPr>
            <p:cNvSpPr/>
            <p:nvPr/>
          </p:nvSpPr>
          <p:spPr>
            <a:xfrm rot="5400000">
              <a:off x="8492286" y="1471281"/>
              <a:ext cx="770460" cy="664190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914400" y="1280160"/>
            <a:ext cx="850392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85750" indent="-285750">
              <a:spcAft>
                <a:spcPts val="1400"/>
              </a:spcAft>
              <a:buClr>
                <a:srgbClr val="5B4BE8"/>
              </a:buClr>
              <a:buFont typeface="Arial"/>
              <a:buChar char="•"/>
            </a:pPr>
            <a:r>
              <a:rPr sz="2000" b="0">
                <a:solidFill>
                  <a:srgbClr val="111111"/>
                </a:solidFill>
              </a:rPr>
              <a:t>Спортивные клубы ведут клиентов, записи и расписание вручную или в разрозненных таблицах</a:t>
            </a:r>
          </a:p>
          <a:p>
            <a:pPr algn="l" marL="285750" indent="-285750">
              <a:spcAft>
                <a:spcPts val="1400"/>
              </a:spcAft>
              <a:buClr>
                <a:srgbClr val="5B4BE8"/>
              </a:buClr>
              <a:buFont typeface="Arial"/>
              <a:buChar char="•"/>
            </a:pPr>
            <a:r>
              <a:rPr sz="2000" b="0">
                <a:solidFill>
                  <a:srgbClr val="111111"/>
                </a:solidFill>
              </a:rPr>
              <a:t>Следствия: переполненные группы, потерянные записи, ошибки в расчёте скидок и стоимости</a:t>
            </a:r>
          </a:p>
          <a:p>
            <a:pPr algn="l" marL="285750" indent="-285750">
              <a:spcAft>
                <a:spcPts val="1400"/>
              </a:spcAft>
              <a:buClr>
                <a:srgbClr val="5B4BE8"/>
              </a:buClr>
              <a:buFont typeface="Arial"/>
              <a:buChar char="•"/>
            </a:pPr>
            <a:r>
              <a:rPr sz="2000" b="0">
                <a:solidFill>
                  <a:srgbClr val="111111"/>
                </a:solidFill>
              </a:rPr>
              <a:t>Нужна система, где правила клуба (до 10 человек в группе, скидка 3–10 %, 60 минут по умолчанию) защищены самой базой данных</a:t>
            </a:r>
          </a:p>
          <a:p>
            <a:pPr algn="l" marL="285750" indent="-285750">
              <a:spcAft>
                <a:spcPts val="1400"/>
              </a:spcAft>
              <a:buClr>
                <a:srgbClr val="5B4BE8"/>
              </a:buClr>
              <a:buFont typeface="Arial"/>
              <a:buChar char="•"/>
            </a:pPr>
            <a:r>
              <a:rPr sz="2000" b="0">
                <a:solidFill>
                  <a:srgbClr val="111111"/>
                </a:solidFill>
              </a:rPr>
              <a:t>Автоматизация освобождает администратора от рутины и даёт аналитику: загрузка групп, состав клиентов, расписание залов</a:t>
            </a:r>
          </a:p>
        </p:txBody>
      </p:sp>
    </p:spTree>
    <p:extLst>
      <p:ext uri="{BB962C8B-B14F-4D97-AF65-F5344CB8AC3E}">
        <p14:creationId xmlns:p14="http://schemas.microsoft.com/office/powerpoint/2010/main" val="31199178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FBA19B-59AD-4125-9DF3-AD4E63090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4" name="Группа 23">
            <a:extLst>
              <a:ext uri="{FF2B5EF4-FFF2-40B4-BE49-F238E27FC236}">
                <a16:creationId xmlns:a16="http://schemas.microsoft.com/office/drawing/2014/main" id="{C8B95BEE-DFCF-40B1-B13A-160E43EF38B8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8DBFEE1B-FAD5-4785-9E3B-5329244047C0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00FE5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116ABA84-9B91-4724-A844-6CD10C6031B7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00FE5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BC4176F-C3AC-474A-8131-820DF2AA1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00FE5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A1390896-A66F-4258-BB8E-359AE31F35A6}"/>
              </a:ext>
            </a:extLst>
          </p:cNvPr>
          <p:cNvGrpSpPr/>
          <p:nvPr/>
        </p:nvGrpSpPr>
        <p:grpSpPr>
          <a:xfrm rot="5400000">
            <a:off x="9738856" y="1372887"/>
            <a:ext cx="1703995" cy="1635360"/>
            <a:chOff x="6299997" y="2533474"/>
            <a:chExt cx="1485983" cy="1426130"/>
          </a:xfrm>
          <a:gradFill>
            <a:gsLst>
              <a:gs pos="100000">
                <a:srgbClr val="FF00FF"/>
              </a:gs>
              <a:gs pos="0">
                <a:srgbClr val="9789F8"/>
              </a:gs>
            </a:gsLst>
            <a:lin ang="0" scaled="0"/>
          </a:gradFill>
        </p:grpSpPr>
        <p:sp>
          <p:nvSpPr>
            <p:cNvPr id="3" name="Параллелограмм 2">
              <a:extLst>
                <a:ext uri="{FF2B5EF4-FFF2-40B4-BE49-F238E27FC236}">
                  <a16:creationId xmlns:a16="http://schemas.microsoft.com/office/drawing/2014/main" id="{065C87DA-1871-4FB5-AA8D-EB78ACE616A2}"/>
                </a:ext>
              </a:extLst>
            </p:cNvPr>
            <p:cNvSpPr/>
            <p:nvPr/>
          </p:nvSpPr>
          <p:spPr>
            <a:xfrm>
              <a:off x="6299997" y="3389152"/>
              <a:ext cx="894959" cy="570452"/>
            </a:xfrm>
            <a:prstGeom prst="parallelogram">
              <a:avLst>
                <a:gd name="adj" fmla="val 65196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5" name="Арка 4">
              <a:extLst>
                <a:ext uri="{FF2B5EF4-FFF2-40B4-BE49-F238E27FC236}">
                  <a16:creationId xmlns:a16="http://schemas.microsoft.com/office/drawing/2014/main" id="{770BB3DC-40E4-49A0-AD2D-495FC6E2B309}"/>
                </a:ext>
              </a:extLst>
            </p:cNvPr>
            <p:cNvSpPr/>
            <p:nvPr/>
          </p:nvSpPr>
          <p:spPr>
            <a:xfrm rot="10800000">
              <a:off x="6645478" y="2818700"/>
              <a:ext cx="570452" cy="570452"/>
            </a:xfrm>
            <a:prstGeom prst="blockArc">
              <a:avLst>
                <a:gd name="adj1" fmla="val 10800000"/>
                <a:gd name="adj2" fmla="val 298094"/>
                <a:gd name="adj3" fmla="val 23363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solidFill>
                  <a:schemeClr val="tx1"/>
                </a:solidFill>
              </a:endParaRPr>
            </a:p>
          </p:txBody>
        </p:sp>
        <p:sp>
          <p:nvSpPr>
            <p:cNvPr id="16" name="Арка 15">
              <a:extLst>
                <a:ext uri="{FF2B5EF4-FFF2-40B4-BE49-F238E27FC236}">
                  <a16:creationId xmlns:a16="http://schemas.microsoft.com/office/drawing/2014/main" id="{BA08C47D-6244-485E-9E12-2D16C6CD8BF7}"/>
                </a:ext>
              </a:extLst>
            </p:cNvPr>
            <p:cNvSpPr/>
            <p:nvPr/>
          </p:nvSpPr>
          <p:spPr>
            <a:xfrm rot="10800000">
              <a:off x="6645478" y="2533474"/>
              <a:ext cx="570452" cy="570452"/>
            </a:xfrm>
            <a:prstGeom prst="blockArc">
              <a:avLst>
                <a:gd name="adj1" fmla="val 10800000"/>
                <a:gd name="adj2" fmla="val 21450672"/>
                <a:gd name="adj3" fmla="val 2343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solidFill>
                  <a:schemeClr val="tx1"/>
                </a:solidFill>
              </a:endParaRPr>
            </a:p>
          </p:txBody>
        </p:sp>
        <p:sp>
          <p:nvSpPr>
            <p:cNvPr id="6" name="Прямоугольный треугольник 5">
              <a:extLst>
                <a:ext uri="{FF2B5EF4-FFF2-40B4-BE49-F238E27FC236}">
                  <a16:creationId xmlns:a16="http://schemas.microsoft.com/office/drawing/2014/main" id="{9A499426-3D65-43F9-94D4-AEDF37824E28}"/>
                </a:ext>
              </a:extLst>
            </p:cNvPr>
            <p:cNvSpPr/>
            <p:nvPr/>
          </p:nvSpPr>
          <p:spPr>
            <a:xfrm>
              <a:off x="7215528" y="2818700"/>
              <a:ext cx="570452" cy="570452"/>
            </a:xfrm>
            <a:prstGeom prst="rt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C1A4572D-B897-4F67-8855-24DAFD9610DA}"/>
              </a:ext>
            </a:extLst>
          </p:cNvPr>
          <p:cNvSpPr txBox="1"/>
          <p:nvPr/>
        </p:nvSpPr>
        <p:spPr>
          <a:xfrm>
            <a:off x="984577" y="1569401"/>
            <a:ext cx="11240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>
                <a:latin typeface="KyivType Sans Medium" panose="00000600000000000000" pitchFamily="50" charset="-52"/>
              </a:rPr>
              <a:t>Цель: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2066925" y="281197"/>
            <a:ext cx="82782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>
                <a:latin typeface="KyivType Sans Heavy" panose="00000900000000000000" pitchFamily="50" charset="-52"/>
              </a:rPr>
              <a:t>Цель, объект и предмет курсовой работы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1A4572D-B897-4F67-8855-24DAFD9610DA}"/>
              </a:ext>
            </a:extLst>
          </p:cNvPr>
          <p:cNvSpPr txBox="1"/>
          <p:nvPr/>
        </p:nvSpPr>
        <p:spPr>
          <a:xfrm>
            <a:off x="999560" y="2479131"/>
            <a:ext cx="15167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just"/>
            <a:r>
              <a:rPr lang="ru-RU" sz="2400" b="1" dirty="0">
                <a:latin typeface="KyivType Sans Medium" panose="00000600000000000000" pitchFamily="50" charset="-52"/>
              </a:rPr>
              <a:t>Объект: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1A4572D-B897-4F67-8855-24DAFD9610DA}"/>
              </a:ext>
            </a:extLst>
          </p:cNvPr>
          <p:cNvSpPr txBox="1"/>
          <p:nvPr/>
        </p:nvSpPr>
        <p:spPr>
          <a:xfrm>
            <a:off x="994752" y="3486150"/>
            <a:ext cx="17812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just"/>
            <a:r>
              <a:rPr lang="ru-RU" sz="2400" b="1" dirty="0">
                <a:latin typeface="KyivType Sans Medium" panose="00000600000000000000" pitchFamily="50" charset="-52"/>
              </a:rPr>
              <a:t>Предмет: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1572768"/>
            <a:ext cx="6766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11111"/>
                </a:solidFill>
              </a:rPr>
              <a:t>Разработать информационную систему учёта занятий и посещаемости спортивного клуба: БД с триггерами и приложение с ролями, запросами и выходным документом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0" y="2478024"/>
            <a:ext cx="6766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11111"/>
                </a:solidFill>
              </a:rPr>
              <a:t>Процесс обслуживания клиентов спортивного клуба: запись на занятия, расписание, посещаемость, расчёт стоимости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0" y="3483864"/>
            <a:ext cx="6766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11111"/>
                </a:solidFill>
              </a:rPr>
              <a:t>Программный модуль учёта занятий и посещаемости (Python, Django, SQLite) и его база данных</a:t>
            </a:r>
          </a:p>
        </p:txBody>
      </p:sp>
    </p:spTree>
    <p:extLst>
      <p:ext uri="{BB962C8B-B14F-4D97-AF65-F5344CB8AC3E}">
        <p14:creationId xmlns:p14="http://schemas.microsoft.com/office/powerpoint/2010/main" val="37060096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3105150" y="281197"/>
            <a:ext cx="437010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>
                <a:latin typeface="KyivType Sans Heavy" panose="00000900000000000000" pitchFamily="50" charset="-52"/>
              </a:rPr>
              <a:t>Задачи исследования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FBA19B-59AD-4125-9DF3-AD4E63090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4" name="Группа 23">
            <a:extLst>
              <a:ext uri="{FF2B5EF4-FFF2-40B4-BE49-F238E27FC236}">
                <a16:creationId xmlns:a16="http://schemas.microsoft.com/office/drawing/2014/main" id="{C8B95BEE-DFCF-40B1-B13A-160E43EF38B8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8DBFEE1B-FAD5-4785-9E3B-5329244047C0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9789F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116ABA84-9B91-4724-A844-6CD10C6031B7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9789F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BC4176F-C3AC-474A-8131-820DF2AA1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9789F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CE2FF65F-3D65-46CD-B71C-440340365136}"/>
              </a:ext>
            </a:extLst>
          </p:cNvPr>
          <p:cNvSpPr txBox="1"/>
          <p:nvPr/>
        </p:nvSpPr>
        <p:spPr>
          <a:xfrm>
            <a:off x="1667999" y="1539277"/>
            <a:ext cx="768096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9789F8"/>
              </a:buClr>
              <a:buFont typeface="Wingdings" panose="05000000000000000000" pitchFamily="2" charset="2"/>
              <a:buChar char="§"/>
            </a:pPr>
            <a:r>
              <a:rPr lang="ru-RU" sz="2000" dirty="0">
                <a:latin typeface="KyivType Sans Medium" panose="00000600000000000000" pitchFamily="50" charset="-52"/>
              </a:rPr>
              <a:t>Проанализировать предметную область и требования варианта 10</a:t>
            </a:r>
          </a:p>
          <a:p>
            <a:pPr marL="342900" indent="-342900">
              <a:buClr>
                <a:srgbClr val="9789F8"/>
              </a:buClr>
              <a:buFont typeface="Wingdings" panose="05000000000000000000" pitchFamily="2" charset="2"/>
              <a:buChar char="§"/>
            </a:pPr>
            <a:r>
              <a:rPr lang="ru-RU" sz="2000" dirty="0">
                <a:latin typeface="KyivType Sans Medium" panose="00000600000000000000" pitchFamily="50" charset="-52"/>
              </a:rPr>
              <a:t>Спроектировать БД: отношения, ограничения, связи, ссылочную целостность</a:t>
            </a:r>
          </a:p>
          <a:p>
            <a:pPr marL="342900" indent="-342900">
              <a:buClr>
                <a:srgbClr val="9789F8"/>
              </a:buClr>
              <a:buFont typeface="Wingdings" panose="05000000000000000000" pitchFamily="2" charset="2"/>
              <a:buChar char="§"/>
            </a:pPr>
            <a:r>
              <a:rPr lang="ru-RU" sz="2000" dirty="0">
                <a:latin typeface="KyivType Sans Medium" panose="00000600000000000000" pitchFamily="50" charset="-52"/>
              </a:rPr>
              <a:t>Реализовать триггеры: длительность 60 минут по умолчанию, не более 10 человек в группе</a:t>
            </a:r>
          </a:p>
          <a:p>
            <a:pPr marL="342900" indent="-342900">
              <a:buClr>
                <a:srgbClr val="9789F8"/>
              </a:buClr>
              <a:buFont typeface="Wingdings" panose="05000000000000000000" pitchFamily="2" charset="2"/>
              <a:buChar char="§"/>
            </a:pPr>
            <a:r>
              <a:rPr lang="ru-RU" sz="2000" dirty="0">
                <a:latin typeface="KyivType Sans Medium" panose="00000600000000000000" pitchFamily="50" charset="-52"/>
              </a:rPr>
              <a:t>Реализовать авторизацию, роли «администратор» и «оператор», формы добавления, просмотра и редактирования</a:t>
            </a:r>
          </a:p>
          <a:p>
            <a:pPr marL="342900" indent="-342900">
              <a:buClr>
                <a:srgbClr val="9789F8"/>
              </a:buClr>
              <a:buFont typeface="Wingdings" panose="05000000000000000000" pitchFamily="2" charset="2"/>
              <a:buChar char="§"/>
            </a:pPr>
            <a:r>
              <a:rPr lang="ru-RU" sz="2000" dirty="0">
                <a:latin typeface="KyivType Sans Medium" panose="00000600000000000000" pitchFamily="50" charset="-52"/>
              </a:rPr>
              <a:t>Реализовать запросы по заданию и выходной документ «Расписание зала»</a:t>
            </a:r>
          </a:p>
          <a:p>
            <a:pPr marL="342900" indent="-342900">
              <a:buClr>
                <a:srgbClr val="9789F8"/>
              </a:buClr>
              <a:buFont typeface="Wingdings" panose="05000000000000000000" pitchFamily="2" charset="2"/>
              <a:buChar char="§"/>
            </a:pPr>
            <a:r>
              <a:rPr lang="ru-RU" sz="2000" dirty="0">
                <a:latin typeface="KyivType Sans Medium" panose="00000600000000000000" pitchFamily="50" charset="-52"/>
              </a:rPr>
              <a:t>Покрыть тестами, настроить CI/CD, оформить отчёт и презентацию</a:t>
            </a:r>
          </a:p>
        </p:txBody>
      </p:sp>
    </p:spTree>
    <p:extLst>
      <p:ext uri="{BB962C8B-B14F-4D97-AF65-F5344CB8AC3E}">
        <p14:creationId xmlns:p14="http://schemas.microsoft.com/office/powerpoint/2010/main" val="16637695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3506324" y="218259"/>
            <a:ext cx="58769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Среда и средства разработки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FBA19B-59AD-4125-9DF3-AD4E63090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4" name="Группа 23">
            <a:extLst>
              <a:ext uri="{FF2B5EF4-FFF2-40B4-BE49-F238E27FC236}">
                <a16:creationId xmlns:a16="http://schemas.microsoft.com/office/drawing/2014/main" id="{C8B95BEE-DFCF-40B1-B13A-160E43EF38B8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8DBFEE1B-FAD5-4785-9E3B-5329244047C0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116ABA84-9B91-4724-A844-6CD10C6031B7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BC4176F-C3AC-474A-8131-820DF2AA1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C3834EEE-C11F-480F-A943-DF51ED28DA0A}"/>
              </a:ext>
            </a:extLst>
          </p:cNvPr>
          <p:cNvSpPr txBox="1"/>
          <p:nvPr/>
        </p:nvSpPr>
        <p:spPr>
          <a:xfrm>
            <a:off x="5486400" y="1280160"/>
            <a:ext cx="22397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>
                <a:latin typeface="KyivType Sans Medium" panose="00000600000000000000" pitchFamily="50" charset="-52"/>
              </a:rPr>
              <a:t>Преимущества</a:t>
            </a:r>
          </a:p>
        </p:txBody>
      </p:sp>
      <p:grpSp>
        <p:nvGrpSpPr>
          <p:cNvPr id="33" name="Группа 32">
            <a:extLst>
              <a:ext uri="{FF2B5EF4-FFF2-40B4-BE49-F238E27FC236}">
                <a16:creationId xmlns:a16="http://schemas.microsoft.com/office/drawing/2014/main" id="{54883227-2BCB-4605-89FE-C937969443AF}"/>
              </a:ext>
            </a:extLst>
          </p:cNvPr>
          <p:cNvGrpSpPr/>
          <p:nvPr/>
        </p:nvGrpSpPr>
        <p:grpSpPr>
          <a:xfrm rot="5400000">
            <a:off x="9532229" y="1579061"/>
            <a:ext cx="1782138" cy="1301154"/>
            <a:chOff x="9404916" y="1524706"/>
            <a:chExt cx="1568126" cy="1144902"/>
          </a:xfrm>
        </p:grpSpPr>
        <p:sp>
          <p:nvSpPr>
            <p:cNvPr id="34" name="Прямоугольник: усеченные противолежащие углы 33">
              <a:extLst>
                <a:ext uri="{FF2B5EF4-FFF2-40B4-BE49-F238E27FC236}">
                  <a16:creationId xmlns:a16="http://schemas.microsoft.com/office/drawing/2014/main" id="{CE0044F3-F10A-4983-AC15-ADD21B3CEDEC}"/>
                </a:ext>
              </a:extLst>
            </p:cNvPr>
            <p:cNvSpPr/>
            <p:nvPr/>
          </p:nvSpPr>
          <p:spPr>
            <a:xfrm flipH="1">
              <a:off x="9724547" y="1524706"/>
              <a:ext cx="1248495" cy="479958"/>
            </a:xfrm>
            <a:prstGeom prst="snip2DiagRect">
              <a:avLst>
                <a:gd name="adj1" fmla="val 0"/>
                <a:gd name="adj2" fmla="val 50000"/>
              </a:avLst>
            </a:prstGeom>
            <a:noFill/>
            <a:ln w="28575">
              <a:solidFill>
                <a:srgbClr val="293DF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35" name="Овал 34">
              <a:extLst>
                <a:ext uri="{FF2B5EF4-FFF2-40B4-BE49-F238E27FC236}">
                  <a16:creationId xmlns:a16="http://schemas.microsoft.com/office/drawing/2014/main" id="{407E6762-F69C-4E1E-80EA-9F7759F60626}"/>
                </a:ext>
              </a:extLst>
            </p:cNvPr>
            <p:cNvSpPr/>
            <p:nvPr/>
          </p:nvSpPr>
          <p:spPr>
            <a:xfrm>
              <a:off x="9404916" y="1764685"/>
              <a:ext cx="239979" cy="239979"/>
            </a:xfrm>
            <a:prstGeom prst="ellipse">
              <a:avLst/>
            </a:prstGeom>
            <a:noFill/>
            <a:ln w="28575">
              <a:solidFill>
                <a:srgbClr val="FF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42" name="Прямоугольник 41">
              <a:extLst>
                <a:ext uri="{FF2B5EF4-FFF2-40B4-BE49-F238E27FC236}">
                  <a16:creationId xmlns:a16="http://schemas.microsoft.com/office/drawing/2014/main" id="{FFCCEAF9-B57A-4791-B4D8-88A22764EB62}"/>
                </a:ext>
              </a:extLst>
            </p:cNvPr>
            <p:cNvSpPr/>
            <p:nvPr/>
          </p:nvSpPr>
          <p:spPr>
            <a:xfrm>
              <a:off x="9724546" y="2079482"/>
              <a:ext cx="257654" cy="257654"/>
            </a:xfrm>
            <a:prstGeom prst="rect">
              <a:avLst/>
            </a:prstGeom>
            <a:noFill/>
            <a:ln w="28575">
              <a:solidFill>
                <a:srgbClr val="00FE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43" name="Прямоугольник 42">
              <a:extLst>
                <a:ext uri="{FF2B5EF4-FFF2-40B4-BE49-F238E27FC236}">
                  <a16:creationId xmlns:a16="http://schemas.microsoft.com/office/drawing/2014/main" id="{3E7D705F-6ECA-4104-94D5-9F737A21D95F}"/>
                </a:ext>
              </a:extLst>
            </p:cNvPr>
            <p:cNvSpPr/>
            <p:nvPr/>
          </p:nvSpPr>
          <p:spPr>
            <a:xfrm>
              <a:off x="9724546" y="2411954"/>
              <a:ext cx="257654" cy="257654"/>
            </a:xfrm>
            <a:prstGeom prst="rect">
              <a:avLst/>
            </a:prstGeom>
            <a:noFill/>
            <a:ln w="28575">
              <a:solidFill>
                <a:srgbClr val="00FE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</p:grpSp>
      <p:pic>
        <p:nvPicPr>
          <p:cNvPr id="49" name="Picture 48" descr="st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9589" y="1338568"/>
            <a:ext cx="3673070" cy="4224031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5486400" y="1828800"/>
            <a:ext cx="39319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85750" indent="-285750">
              <a:spcAft>
                <a:spcPts val="10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Python + Django: ORM, миграции, авторизация, группы и права, защита от CSRF/XSS</a:t>
            </a:r>
          </a:p>
          <a:p>
            <a:pPr algn="l" marL="285750" indent="-285750">
              <a:spcAft>
                <a:spcPts val="10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SQLite: триггеры, CHECK и UNIQUE без отдельного сервера БД</a:t>
            </a:r>
          </a:p>
          <a:p>
            <a:pPr algn="l" marL="285750" indent="-285750">
              <a:spcAft>
                <a:spcPts val="10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unittest + coverage: 63 теста, 98 %</a:t>
            </a:r>
          </a:p>
          <a:p>
            <a:pPr algn="l" marL="285750" indent="-285750">
              <a:spcAft>
                <a:spcPts val="10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GitHub Actions: проверка и сборка при каждом push</a:t>
            </a:r>
          </a:p>
          <a:p>
            <a:pPr algn="l" marL="285750" indent="-285750">
              <a:spcAft>
                <a:spcPts val="10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Совместимость: Python 3.9+, Django 4.2 / 5.2</a:t>
            </a:r>
          </a:p>
        </p:txBody>
      </p:sp>
    </p:spTree>
    <p:extLst>
      <p:ext uri="{BB962C8B-B14F-4D97-AF65-F5344CB8AC3E}">
        <p14:creationId xmlns:p14="http://schemas.microsoft.com/office/powerpoint/2010/main" val="16352902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1178029" y="249260"/>
            <a:ext cx="88024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РАЗРАБОТКА СТРУКТУРЫ БАЗЫ ДАННЫХ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FBA19B-59AD-4125-9DF3-AD4E63090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" name="Группа 23">
            <a:extLst>
              <a:ext uri="{FF2B5EF4-FFF2-40B4-BE49-F238E27FC236}">
                <a16:creationId xmlns:a16="http://schemas.microsoft.com/office/drawing/2014/main" id="{C8B95BEE-DFCF-40B1-B13A-160E43EF38B8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8DBFEE1B-FAD5-4785-9E3B-5329244047C0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116ABA84-9B91-4724-A844-6CD10C6031B7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BC4176F-C3AC-474A-8131-820DF2AA1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0" name="Picture 29" descr="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8269" y="914400"/>
            <a:ext cx="7504981" cy="5303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2902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4A3878F-D519-59B8-2EB4-9375D956FA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796DD4C3-77EB-9D07-8900-5CFF897C40F8}"/>
              </a:ext>
            </a:extLst>
          </p:cNvPr>
          <p:cNvSpPr txBox="1"/>
          <p:nvPr/>
        </p:nvSpPr>
        <p:spPr>
          <a:xfrm>
            <a:off x="1178030" y="249260"/>
            <a:ext cx="1066896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ПРОЕКТИРОВАНИЕ ШАБЛОНА ВЫХОДНОГО ДОКУМЕНТА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055524B2-C845-21FF-1118-8A4628811F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" name="Группа 23">
            <a:extLst>
              <a:ext uri="{FF2B5EF4-FFF2-40B4-BE49-F238E27FC236}">
                <a16:creationId xmlns:a16="http://schemas.microsoft.com/office/drawing/2014/main" id="{68D02CEC-E17E-E5F3-36F0-0043C8B68D64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9EA4CC41-B2C5-0FD3-1C84-6168C2F34C4E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A29E1C1A-E59B-693F-9C60-06DA64E0EDD8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F47A8CF0-CADF-F6E0-DC6E-D5132058369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Rounded Rectangle 29"/>
          <p:cNvSpPr/>
          <p:nvPr/>
        </p:nvSpPr>
        <p:spPr>
          <a:xfrm>
            <a:off x="822960" y="1280160"/>
            <a:ext cx="4114800" cy="4023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5B4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" y="1371600"/>
            <a:ext cx="384048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11111"/>
                </a:solidFill>
              </a:rPr>
              <a:t>Зал №___          Дата распечатки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11111"/>
                </a:solidFill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11111"/>
                </a:solidFill>
              </a:rPr>
              <a:t>Понедельник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11111"/>
                </a:solidFill>
              </a:rPr>
              <a:t>Начало – Окончание – Группа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11111"/>
                </a:solidFill>
              </a:rPr>
              <a:t>Начало – Окончание – Группа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11111"/>
                </a:solidFill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11111"/>
                </a:solidFill>
              </a:rPr>
              <a:t>Вторник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11111"/>
                </a:solidFill>
              </a:rPr>
              <a:t>Начало – Окончание – Группа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11111"/>
                </a:solidFill>
              </a:rPr>
              <a:t>Начало – Окончание – Группа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11111"/>
                </a:solidFill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11111"/>
                </a:solidFill>
              </a:rPr>
              <a:t>…</a:t>
            </a:r>
          </a:p>
        </p:txBody>
      </p:sp>
      <p:pic>
        <p:nvPicPr>
          <p:cNvPr id="32" name="Picture 31" descr="repo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1291590"/>
            <a:ext cx="6400800" cy="40005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822960" y="544068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</a:rPr>
              <a:t>Слева — макет по заданию, справа — готовый документ: зал выбирается из списка, окончание занятия = начало + длительность, есть печать</a:t>
            </a:r>
          </a:p>
        </p:txBody>
      </p:sp>
    </p:spTree>
    <p:extLst>
      <p:ext uri="{BB962C8B-B14F-4D97-AF65-F5344CB8AC3E}">
        <p14:creationId xmlns:p14="http://schemas.microsoft.com/office/powerpoint/2010/main" val="38860064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D424C3C-4968-8E1E-092D-310ECEF5FE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1FF24BEB-1095-C7E6-2BD1-7DBB264E11CC}"/>
              </a:ext>
            </a:extLst>
          </p:cNvPr>
          <p:cNvSpPr txBox="1"/>
          <p:nvPr/>
        </p:nvSpPr>
        <p:spPr>
          <a:xfrm>
            <a:off x="1993903" y="218259"/>
            <a:ext cx="879599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Структурная схема программного продукта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CC115943-F61A-08E5-0EA8-D9DD091E37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" name="Группа 23">
            <a:extLst>
              <a:ext uri="{FF2B5EF4-FFF2-40B4-BE49-F238E27FC236}">
                <a16:creationId xmlns:a16="http://schemas.microsoft.com/office/drawing/2014/main" id="{6321B6F5-00E8-4036-68A3-6FC42B34A05F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050D700F-624B-EC0B-F42C-AD4D63C6A55A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DE146678-F559-99B6-4F52-6DE0189D2A00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0E2273F-7144-48AC-48AF-CC5B7F510A5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Группа 32">
            <a:extLst>
              <a:ext uri="{FF2B5EF4-FFF2-40B4-BE49-F238E27FC236}">
                <a16:creationId xmlns:a16="http://schemas.microsoft.com/office/drawing/2014/main" id="{EA9BD997-FDBB-EB9D-D06A-378DB877A924}"/>
              </a:ext>
            </a:extLst>
          </p:cNvPr>
          <p:cNvGrpSpPr/>
          <p:nvPr/>
        </p:nvGrpSpPr>
        <p:grpSpPr>
          <a:xfrm rot="5400000">
            <a:off x="9532229" y="1579061"/>
            <a:ext cx="1782138" cy="1301154"/>
            <a:chOff x="9404916" y="1524706"/>
            <a:chExt cx="1568126" cy="1144902"/>
          </a:xfrm>
        </p:grpSpPr>
        <p:sp>
          <p:nvSpPr>
            <p:cNvPr id="34" name="Прямоугольник: усеченные противолежащие углы 33">
              <a:extLst>
                <a:ext uri="{FF2B5EF4-FFF2-40B4-BE49-F238E27FC236}">
                  <a16:creationId xmlns:a16="http://schemas.microsoft.com/office/drawing/2014/main" id="{81A4F7EB-F15F-DC2F-3465-29790581D261}"/>
                </a:ext>
              </a:extLst>
            </p:cNvPr>
            <p:cNvSpPr/>
            <p:nvPr/>
          </p:nvSpPr>
          <p:spPr>
            <a:xfrm flipH="1">
              <a:off x="9724547" y="1524706"/>
              <a:ext cx="1248495" cy="479958"/>
            </a:xfrm>
            <a:prstGeom prst="snip2DiagRect">
              <a:avLst>
                <a:gd name="adj1" fmla="val 0"/>
                <a:gd name="adj2" fmla="val 50000"/>
              </a:avLst>
            </a:prstGeom>
            <a:noFill/>
            <a:ln w="28575">
              <a:solidFill>
                <a:srgbClr val="293DF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35" name="Овал 34">
              <a:extLst>
                <a:ext uri="{FF2B5EF4-FFF2-40B4-BE49-F238E27FC236}">
                  <a16:creationId xmlns:a16="http://schemas.microsoft.com/office/drawing/2014/main" id="{FD5D2164-1B16-627E-A54F-FE49E69B64E5}"/>
                </a:ext>
              </a:extLst>
            </p:cNvPr>
            <p:cNvSpPr/>
            <p:nvPr/>
          </p:nvSpPr>
          <p:spPr>
            <a:xfrm>
              <a:off x="9404916" y="1764685"/>
              <a:ext cx="239979" cy="239979"/>
            </a:xfrm>
            <a:prstGeom prst="ellipse">
              <a:avLst/>
            </a:prstGeom>
            <a:noFill/>
            <a:ln w="28575">
              <a:solidFill>
                <a:srgbClr val="FF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42" name="Прямоугольник 41">
              <a:extLst>
                <a:ext uri="{FF2B5EF4-FFF2-40B4-BE49-F238E27FC236}">
                  <a16:creationId xmlns:a16="http://schemas.microsoft.com/office/drawing/2014/main" id="{C8F16764-08F7-F45E-45EE-B7AFEBD14F33}"/>
                </a:ext>
              </a:extLst>
            </p:cNvPr>
            <p:cNvSpPr/>
            <p:nvPr/>
          </p:nvSpPr>
          <p:spPr>
            <a:xfrm>
              <a:off x="9724546" y="2079482"/>
              <a:ext cx="257654" cy="257654"/>
            </a:xfrm>
            <a:prstGeom prst="rect">
              <a:avLst/>
            </a:prstGeom>
            <a:noFill/>
            <a:ln w="28575">
              <a:solidFill>
                <a:srgbClr val="00FE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43" name="Прямоугольник 42">
              <a:extLst>
                <a:ext uri="{FF2B5EF4-FFF2-40B4-BE49-F238E27FC236}">
                  <a16:creationId xmlns:a16="http://schemas.microsoft.com/office/drawing/2014/main" id="{B1AA6DDC-7217-6F3B-9A51-272DA532E15C}"/>
                </a:ext>
              </a:extLst>
            </p:cNvPr>
            <p:cNvSpPr/>
            <p:nvPr/>
          </p:nvSpPr>
          <p:spPr>
            <a:xfrm>
              <a:off x="9724546" y="2411954"/>
              <a:ext cx="257654" cy="257654"/>
            </a:xfrm>
            <a:prstGeom prst="rect">
              <a:avLst/>
            </a:prstGeom>
            <a:noFill/>
            <a:ln w="28575">
              <a:solidFill>
                <a:srgbClr val="00FE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</p:grpSp>
      <p:sp>
        <p:nvSpPr>
          <p:cNvPr id="44" name="Rounded Rectangle 43"/>
          <p:cNvSpPr/>
          <p:nvPr/>
        </p:nvSpPr>
        <p:spPr>
          <a:xfrm>
            <a:off x="1188720" y="1143000"/>
            <a:ext cx="7680960" cy="731520"/>
          </a:xfrm>
          <a:prstGeom prst="roundRect">
            <a:avLst>
              <a:gd name="adj" fmla="val 20000"/>
            </a:avLst>
          </a:prstGeom>
          <a:solidFill>
            <a:srgbClr val="EE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80160" y="1179576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111111"/>
                </a:solidFill>
              </a:rPr>
              <a:t>Браузер: HTML-шаблоны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80160" y="1527048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</a:rPr>
              <a:t>боковое меню по ролям, формы, печать</a:t>
            </a:r>
          </a:p>
        </p:txBody>
      </p:sp>
      <p:sp>
        <p:nvSpPr>
          <p:cNvPr id="47" name="Down Arrow 46"/>
          <p:cNvSpPr/>
          <p:nvPr/>
        </p:nvSpPr>
        <p:spPr>
          <a:xfrm>
            <a:off x="4892040" y="1892807"/>
            <a:ext cx="274320" cy="237744"/>
          </a:xfrm>
          <a:prstGeom prst="downArrow">
            <a:avLst/>
          </a:prstGeom>
          <a:solidFill>
            <a:srgbClr val="5B4B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188720" y="2148840"/>
            <a:ext cx="7680960" cy="731520"/>
          </a:xfrm>
          <a:prstGeom prst="roundRect">
            <a:avLst>
              <a:gd name="adj" fmla="val 20000"/>
            </a:avLst>
          </a:prstGeom>
          <a:solidFill>
            <a:srgbClr val="EE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80160" y="2185416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111111"/>
                </a:solidFill>
              </a:rPr>
              <a:t>Маршрутизация и представления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280160" y="2532888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</a:rPr>
              <a:t>права доступа (оператор / администратор), разбор запросов</a:t>
            </a:r>
          </a:p>
        </p:txBody>
      </p:sp>
      <p:sp>
        <p:nvSpPr>
          <p:cNvPr id="51" name="Down Arrow 50"/>
          <p:cNvSpPr/>
          <p:nvPr/>
        </p:nvSpPr>
        <p:spPr>
          <a:xfrm>
            <a:off x="4892040" y="2898648"/>
            <a:ext cx="274320" cy="237744"/>
          </a:xfrm>
          <a:prstGeom prst="downArrow">
            <a:avLst/>
          </a:prstGeom>
          <a:solidFill>
            <a:srgbClr val="5B4B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188720" y="3154680"/>
            <a:ext cx="7680960" cy="731520"/>
          </a:xfrm>
          <a:prstGeom prst="roundRect">
            <a:avLst>
              <a:gd name="adj" fmla="val 20000"/>
            </a:avLst>
          </a:prstGeom>
          <a:solidFill>
            <a:srgbClr val="EE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280160" y="3191256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111111"/>
                </a:solidFill>
              </a:rPr>
              <a:t>Формы и сервисы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80160" y="3538728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</a:rPr>
              <a:t>валидация ввода; запросы, расчёт стоимости, расписание зала</a:t>
            </a:r>
          </a:p>
        </p:txBody>
      </p:sp>
      <p:sp>
        <p:nvSpPr>
          <p:cNvPr id="55" name="Down Arrow 54"/>
          <p:cNvSpPr/>
          <p:nvPr/>
        </p:nvSpPr>
        <p:spPr>
          <a:xfrm>
            <a:off x="4892040" y="3904488"/>
            <a:ext cx="274320" cy="237744"/>
          </a:xfrm>
          <a:prstGeom prst="downArrow">
            <a:avLst/>
          </a:prstGeom>
          <a:solidFill>
            <a:srgbClr val="5B4B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1188720" y="4160520"/>
            <a:ext cx="7680960" cy="731520"/>
          </a:xfrm>
          <a:prstGeom prst="roundRect">
            <a:avLst>
              <a:gd name="adj" fmla="val 20000"/>
            </a:avLst>
          </a:prstGeom>
          <a:solidFill>
            <a:srgbClr val="EE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80160" y="4197096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111111"/>
                </a:solidFill>
              </a:rPr>
              <a:t>Модели и миграции (ORM)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280160" y="4544568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</a:rPr>
              <a:t>8 таблиц, ограничения, триггеры</a:t>
            </a:r>
          </a:p>
        </p:txBody>
      </p:sp>
      <p:sp>
        <p:nvSpPr>
          <p:cNvPr id="59" name="Down Arrow 58"/>
          <p:cNvSpPr/>
          <p:nvPr/>
        </p:nvSpPr>
        <p:spPr>
          <a:xfrm>
            <a:off x="4892040" y="4910328"/>
            <a:ext cx="274320" cy="237744"/>
          </a:xfrm>
          <a:prstGeom prst="downArrow">
            <a:avLst/>
          </a:prstGeom>
          <a:solidFill>
            <a:srgbClr val="5B4B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1188720" y="5166360"/>
            <a:ext cx="7680960" cy="731520"/>
          </a:xfrm>
          <a:prstGeom prst="roundRect">
            <a:avLst>
              <a:gd name="adj" fmla="val 20000"/>
            </a:avLst>
          </a:prstGeom>
          <a:solidFill>
            <a:srgbClr val="5B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280160" y="5202936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</a:rPr>
              <a:t>SQLite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80160" y="5550408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</a:rPr>
              <a:t>триггеры, CHECK, UNIQUE, внешние ключи</a:t>
            </a:r>
          </a:p>
        </p:txBody>
      </p:sp>
    </p:spTree>
    <p:extLst>
      <p:ext uri="{BB962C8B-B14F-4D97-AF65-F5344CB8AC3E}">
        <p14:creationId xmlns:p14="http://schemas.microsoft.com/office/powerpoint/2010/main" val="34773918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F6EB730-A3CE-3514-A3EF-74D67002E2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7FC1A0B4-69F9-8332-2D32-7127DF797089}"/>
              </a:ext>
            </a:extLst>
          </p:cNvPr>
          <p:cNvSpPr txBox="1"/>
          <p:nvPr/>
        </p:nvSpPr>
        <p:spPr>
          <a:xfrm>
            <a:off x="1178030" y="249260"/>
            <a:ext cx="1066896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ИНТЕРФЕЙС: ВХОД И ГЛАВНАЯ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889275C6-E42A-39B1-C7AB-8287AC7FF2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" name="Группа 23">
            <a:extLst>
              <a:ext uri="{FF2B5EF4-FFF2-40B4-BE49-F238E27FC236}">
                <a16:creationId xmlns:a16="http://schemas.microsoft.com/office/drawing/2014/main" id="{DAE8B765-03B9-2991-22A8-572E1992FA31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45A80673-1C19-53A1-7168-67A07E85D34D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26FA3CD4-F135-91C8-3B55-CF4DF1DA5A51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CE92105F-E030-23AB-5758-420CF06CAB2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0" name="Picture 29" descr="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97354"/>
            <a:ext cx="5394960" cy="3371850"/>
          </a:xfrm>
          <a:prstGeom prst="rect">
            <a:avLst/>
          </a:prstGeom>
        </p:spPr>
      </p:pic>
      <p:pic>
        <p:nvPicPr>
          <p:cNvPr id="31" name="Picture 30" descr="home_adm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0491" y="1280160"/>
            <a:ext cx="5341257" cy="420624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40080" y="56235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</a:rPr>
              <a:t>Авторизация по логину и паролю; главная со статистикой, меню зависит от роли</a:t>
            </a:r>
          </a:p>
        </p:txBody>
      </p:sp>
    </p:spTree>
    <p:extLst>
      <p:ext uri="{BB962C8B-B14F-4D97-AF65-F5344CB8AC3E}">
        <p14:creationId xmlns:p14="http://schemas.microsoft.com/office/powerpoint/2010/main" val="27675587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731520" y="5922731"/>
            <a:ext cx="48542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600" dirty="0">
                <a:solidFill>
                  <a:schemeClr val="bg1">
                    <a:lumMod val="75000"/>
                  </a:schemeClr>
                </a:solidFill>
                <a:latin typeface="KyivType Sans Heavy" panose="00000900000000000000" pitchFamily="50" charset="-52"/>
              </a:rPr>
              <a:t>Наполняемость групп: демонстрационные данные клуба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FBA19B-59AD-4125-9DF3-AD4E63090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" name="Группа 23">
            <a:extLst>
              <a:ext uri="{FF2B5EF4-FFF2-40B4-BE49-F238E27FC236}">
                <a16:creationId xmlns:a16="http://schemas.microsoft.com/office/drawing/2014/main" id="{C8B95BEE-DFCF-40B1-B13A-160E43EF38B8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8DBFEE1B-FAD5-4785-9E3B-5329244047C0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00FE5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116ABA84-9B91-4724-A844-6CD10C6031B7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00FE5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BC4176F-C3AC-474A-8131-820DF2AA1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00FE5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B80C341B-75F2-49EE-BD11-678553F1BE0D}"/>
              </a:ext>
            </a:extLst>
          </p:cNvPr>
          <p:cNvSpPr txBox="1"/>
          <p:nvPr/>
        </p:nvSpPr>
        <p:spPr>
          <a:xfrm>
            <a:off x="7772400" y="1463040"/>
            <a:ext cx="38404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>
                <a:latin typeface="KyivType Sans Medium" panose="00000600000000000000" pitchFamily="50" charset="-52"/>
              </a:rPr>
              <a:t>Список групп с количеством клиентов на сегодня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341F87-943B-04D4-DB96-760FEE005DE7}"/>
              </a:ext>
            </a:extLst>
          </p:cNvPr>
          <p:cNvSpPr txBox="1"/>
          <p:nvPr/>
        </p:nvSpPr>
        <p:spPr>
          <a:xfrm>
            <a:off x="1161331" y="246888"/>
            <a:ext cx="1066896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ЗАПРОС 1: ГРУППЫ И ЧИСЛО КЛИЕНТОВ</a:t>
            </a:r>
          </a:p>
        </p:txBody>
      </p:sp>
      <p:pic>
        <p:nvPicPr>
          <p:cNvPr id="30" name="Picture 29" descr="q_grou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268730"/>
            <a:ext cx="6766560" cy="42291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72400" y="2377440"/>
            <a:ext cx="384048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85750" indent="-285750">
              <a:spcAft>
                <a:spcPts val="8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Считаются только занимающиеся клиенты</a:t>
            </a:r>
          </a:p>
          <a:p>
            <a:pPr algn="l" marL="285750" indent="-285750">
              <a:spcAft>
                <a:spcPts val="8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Один SQL-запрос с агрегацией Count</a:t>
            </a:r>
          </a:p>
          <a:p>
            <a:pPr algn="l" marL="285750" indent="-285750">
              <a:spcAft>
                <a:spcPts val="8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Показано заполнение «N / 10»</a:t>
            </a:r>
          </a:p>
        </p:txBody>
      </p:sp>
    </p:spTree>
    <p:extLst>
      <p:ext uri="{BB962C8B-B14F-4D97-AF65-F5344CB8AC3E}">
        <p14:creationId xmlns:p14="http://schemas.microsoft.com/office/powerpoint/2010/main" val="885380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803A8C7-B9E6-F8F3-CE14-4696A3AB6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5748970B-C7FF-3153-4A48-716ED66DA56B}"/>
              </a:ext>
            </a:extLst>
          </p:cNvPr>
          <p:cNvSpPr txBox="1"/>
          <p:nvPr/>
        </p:nvSpPr>
        <p:spPr>
          <a:xfrm>
            <a:off x="1178029" y="249260"/>
            <a:ext cx="1147919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ТЕСТИРОВАНИЕ ПРОГРАММНОГО ПРОДУКТА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7B2C543A-A947-50E7-D4E3-8CEB0B1AAB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" name="Группа 23">
            <a:extLst>
              <a:ext uri="{FF2B5EF4-FFF2-40B4-BE49-F238E27FC236}">
                <a16:creationId xmlns:a16="http://schemas.microsoft.com/office/drawing/2014/main" id="{B2DE254A-7007-5225-15D5-5652BD0945B2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670D6464-8620-E57C-51CA-E5FF6A9B9604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F7DD3777-A335-32AD-3E02-3B5092FF0916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ED2BA8E7-8F77-FD97-A0AC-B222BD1333B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Rounded Rectangle 29"/>
          <p:cNvSpPr/>
          <p:nvPr/>
        </p:nvSpPr>
        <p:spPr>
          <a:xfrm>
            <a:off x="822960" y="1234440"/>
            <a:ext cx="2743200" cy="1554480"/>
          </a:xfrm>
          <a:prstGeom prst="roundRect">
            <a:avLst>
              <a:gd name="adj" fmla="val 12000"/>
            </a:avLst>
          </a:prstGeom>
          <a:solidFill>
            <a:srgbClr val="EE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1280160"/>
            <a:ext cx="2743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5B4BE8"/>
                </a:solidFill>
              </a:rPr>
              <a:t>63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219456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111111"/>
                </a:solidFill>
              </a:rPr>
              <a:t>автоматических теста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749040" y="1234440"/>
            <a:ext cx="2743200" cy="1554480"/>
          </a:xfrm>
          <a:prstGeom prst="roundRect">
            <a:avLst>
              <a:gd name="adj" fmla="val 12000"/>
            </a:avLst>
          </a:prstGeom>
          <a:solidFill>
            <a:srgbClr val="EE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749040" y="1280160"/>
            <a:ext cx="2743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5B4BE8"/>
                </a:solidFill>
              </a:rPr>
              <a:t>98 %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49040" y="219456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111111"/>
                </a:solidFill>
              </a:rPr>
              <a:t>покрытие кода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75120" y="1234440"/>
            <a:ext cx="2743200" cy="1554480"/>
          </a:xfrm>
          <a:prstGeom prst="roundRect">
            <a:avLst>
              <a:gd name="adj" fmla="val 12000"/>
            </a:avLst>
          </a:prstGeom>
          <a:solidFill>
            <a:srgbClr val="EE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75120" y="1280160"/>
            <a:ext cx="2743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5B4BE8"/>
                </a:solidFill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75120" y="219456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111111"/>
                </a:solidFill>
              </a:rPr>
              <a:t>слоя проверки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3108960"/>
            <a:ext cx="1051560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85750" indent="-285750">
              <a:spcAft>
                <a:spcPts val="8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Триггеры проверены на реальной БД: 10-й и 11-й участник, отменённая запись, повторная активация, длительность по умолчанию</a:t>
            </a:r>
          </a:p>
          <a:p>
            <a:pPr algn="l" marL="285750" indent="-285750">
              <a:spcAft>
                <a:spcPts val="8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Ограничения: скидка 3–10 %, даты абонемента, уникальные запись и посещение</a:t>
            </a:r>
          </a:p>
          <a:p>
            <a:pPr algn="l" marL="285750" indent="-285750">
              <a:spcAft>
                <a:spcPts val="8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Сервисы: запросы по группам и полу, стоимость со скидкой, истёкший абонемент, расписание зала</a:t>
            </a:r>
          </a:p>
          <a:p>
            <a:pPr algn="l" marL="285750" indent="-285750">
              <a:spcAft>
                <a:spcPts val="8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Веб-слой: права ролей и 403, добавление оператора, CRUD, ошибки форм, страницы запросов и отчёт</a:t>
            </a:r>
          </a:p>
        </p:txBody>
      </p:sp>
    </p:spTree>
    <p:extLst>
      <p:ext uri="{BB962C8B-B14F-4D97-AF65-F5344CB8AC3E}">
        <p14:creationId xmlns:p14="http://schemas.microsoft.com/office/powerpoint/2010/main" val="25589592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4477874" y="351221"/>
            <a:ext cx="26532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Заключение 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FBA19B-59AD-4125-9DF3-AD4E63090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" name="Группа 23">
            <a:extLst>
              <a:ext uri="{FF2B5EF4-FFF2-40B4-BE49-F238E27FC236}">
                <a16:creationId xmlns:a16="http://schemas.microsoft.com/office/drawing/2014/main" id="{C8B95BEE-DFCF-40B1-B13A-160E43EF38B8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8DBFEE1B-FAD5-4785-9E3B-5329244047C0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00FE5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116ABA84-9B91-4724-A844-6CD10C6031B7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00FE5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BC4176F-C3AC-474A-8131-820DF2AA1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00FE5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Группа 46">
            <a:extLst>
              <a:ext uri="{FF2B5EF4-FFF2-40B4-BE49-F238E27FC236}">
                <a16:creationId xmlns:a16="http://schemas.microsoft.com/office/drawing/2014/main" id="{027B4F71-7EE3-4380-8703-3D4D953AD394}"/>
              </a:ext>
            </a:extLst>
          </p:cNvPr>
          <p:cNvGrpSpPr/>
          <p:nvPr/>
        </p:nvGrpSpPr>
        <p:grpSpPr>
          <a:xfrm rot="5400000">
            <a:off x="9422663" y="1661436"/>
            <a:ext cx="2010748" cy="1310632"/>
            <a:chOff x="8931002" y="1384565"/>
            <a:chExt cx="1912392" cy="1246521"/>
          </a:xfrm>
        </p:grpSpPr>
        <p:grpSp>
          <p:nvGrpSpPr>
            <p:cNvPr id="5" name="Группа 35">
              <a:extLst>
                <a:ext uri="{FF2B5EF4-FFF2-40B4-BE49-F238E27FC236}">
                  <a16:creationId xmlns:a16="http://schemas.microsoft.com/office/drawing/2014/main" id="{F42CD6CD-F5AB-4957-89A1-D0940E5EC675}"/>
                </a:ext>
              </a:extLst>
            </p:cNvPr>
            <p:cNvGrpSpPr/>
            <p:nvPr/>
          </p:nvGrpSpPr>
          <p:grpSpPr>
            <a:xfrm>
              <a:off x="8931002" y="1384565"/>
              <a:ext cx="1155199" cy="661168"/>
              <a:chOff x="8315325" y="942975"/>
              <a:chExt cx="1854994" cy="1061689"/>
            </a:xfrm>
          </p:grpSpPr>
          <p:sp>
            <p:nvSpPr>
              <p:cNvPr id="4" name="Овал 3">
                <a:extLst>
                  <a:ext uri="{FF2B5EF4-FFF2-40B4-BE49-F238E27FC236}">
                    <a16:creationId xmlns:a16="http://schemas.microsoft.com/office/drawing/2014/main" id="{CF667990-4171-4D70-B79E-AB47463E534F}"/>
                  </a:ext>
                </a:extLst>
              </p:cNvPr>
              <p:cNvSpPr/>
              <p:nvPr/>
            </p:nvSpPr>
            <p:spPr>
              <a:xfrm>
                <a:off x="8315325" y="942975"/>
                <a:ext cx="1061689" cy="1061689"/>
              </a:xfrm>
              <a:prstGeom prst="ellipse">
                <a:avLst/>
              </a:prstGeom>
              <a:noFill/>
              <a:ln w="28575">
                <a:solidFill>
                  <a:srgbClr val="293DF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cxnSp>
            <p:nvCxnSpPr>
              <p:cNvPr id="22" name="Прямая соединительная линия 21">
                <a:extLst>
                  <a:ext uri="{FF2B5EF4-FFF2-40B4-BE49-F238E27FC236}">
                    <a16:creationId xmlns:a16="http://schemas.microsoft.com/office/drawing/2014/main" id="{D29973BE-7B23-41F4-AEE8-196ED25EEDE6}"/>
                  </a:ext>
                </a:extLst>
              </p:cNvPr>
              <p:cNvCxnSpPr/>
              <p:nvPr/>
            </p:nvCxnSpPr>
            <p:spPr>
              <a:xfrm>
                <a:off x="8846170" y="942975"/>
                <a:ext cx="1324149" cy="0"/>
              </a:xfrm>
              <a:prstGeom prst="line">
                <a:avLst/>
              </a:prstGeom>
              <a:ln w="28575">
                <a:solidFill>
                  <a:srgbClr val="293DF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Прямая соединительная линия 24">
                <a:extLst>
                  <a:ext uri="{FF2B5EF4-FFF2-40B4-BE49-F238E27FC236}">
                    <a16:creationId xmlns:a16="http://schemas.microsoft.com/office/drawing/2014/main" id="{3C791FAD-1672-438D-9082-3D5EC36DE98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58313" y="1367651"/>
                <a:ext cx="812006" cy="0"/>
              </a:xfrm>
              <a:prstGeom prst="line">
                <a:avLst/>
              </a:prstGeom>
              <a:ln w="28575">
                <a:solidFill>
                  <a:srgbClr val="293DF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Прямая соединительная линия 25">
                <a:extLst>
                  <a:ext uri="{FF2B5EF4-FFF2-40B4-BE49-F238E27FC236}">
                    <a16:creationId xmlns:a16="http://schemas.microsoft.com/office/drawing/2014/main" id="{F69EAF31-E737-4372-B997-BBF860FEB01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58313" y="1579989"/>
                <a:ext cx="812006" cy="0"/>
              </a:xfrm>
              <a:prstGeom prst="line">
                <a:avLst/>
              </a:prstGeom>
              <a:ln w="28575">
                <a:solidFill>
                  <a:srgbClr val="293DF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Прямая соединительная линия 29">
                <a:extLst>
                  <a:ext uri="{FF2B5EF4-FFF2-40B4-BE49-F238E27FC236}">
                    <a16:creationId xmlns:a16="http://schemas.microsoft.com/office/drawing/2014/main" id="{50865A49-47F2-4FA1-9694-FFE38C01CF0F}"/>
                  </a:ext>
                </a:extLst>
              </p:cNvPr>
              <p:cNvCxnSpPr/>
              <p:nvPr/>
            </p:nvCxnSpPr>
            <p:spPr>
              <a:xfrm>
                <a:off x="8846170" y="2004664"/>
                <a:ext cx="1324149" cy="0"/>
              </a:xfrm>
              <a:prstGeom prst="line">
                <a:avLst/>
              </a:prstGeom>
              <a:ln w="28575">
                <a:solidFill>
                  <a:srgbClr val="293DF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Прямая соединительная линия 30">
                <a:extLst>
                  <a:ext uri="{FF2B5EF4-FFF2-40B4-BE49-F238E27FC236}">
                    <a16:creationId xmlns:a16="http://schemas.microsoft.com/office/drawing/2014/main" id="{EC6B05C9-CE2F-446F-8543-45D6272030B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265444" y="1792327"/>
                <a:ext cx="904875" cy="0"/>
              </a:xfrm>
              <a:prstGeom prst="line">
                <a:avLst/>
              </a:prstGeom>
              <a:ln w="28575">
                <a:solidFill>
                  <a:srgbClr val="293DF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Прямая соединительная линия 31">
                <a:extLst>
                  <a:ext uri="{FF2B5EF4-FFF2-40B4-BE49-F238E27FC236}">
                    <a16:creationId xmlns:a16="http://schemas.microsoft.com/office/drawing/2014/main" id="{9D2BE0EA-DF7F-45D7-B441-C5553F14B81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265444" y="1155313"/>
                <a:ext cx="904875" cy="0"/>
              </a:xfrm>
              <a:prstGeom prst="line">
                <a:avLst/>
              </a:prstGeom>
              <a:ln w="28575">
                <a:solidFill>
                  <a:srgbClr val="293DF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7" name="Прямоугольник 36">
              <a:extLst>
                <a:ext uri="{FF2B5EF4-FFF2-40B4-BE49-F238E27FC236}">
                  <a16:creationId xmlns:a16="http://schemas.microsoft.com/office/drawing/2014/main" id="{890EA3EC-6524-47BC-B35A-B23B2FAA7690}"/>
                </a:ext>
              </a:extLst>
            </p:cNvPr>
            <p:cNvSpPr/>
            <p:nvPr/>
          </p:nvSpPr>
          <p:spPr>
            <a:xfrm>
              <a:off x="10182226" y="1384565"/>
              <a:ext cx="661168" cy="661168"/>
            </a:xfrm>
            <a:prstGeom prst="rect">
              <a:avLst/>
            </a:prstGeom>
            <a:gradFill>
              <a:gsLst>
                <a:gs pos="100000">
                  <a:srgbClr val="FF00FF"/>
                </a:gs>
                <a:gs pos="0">
                  <a:srgbClr val="9789F8"/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6" name="Группа 37">
              <a:extLst>
                <a:ext uri="{FF2B5EF4-FFF2-40B4-BE49-F238E27FC236}">
                  <a16:creationId xmlns:a16="http://schemas.microsoft.com/office/drawing/2014/main" id="{9FFE9409-1E4E-4FDC-93A2-EEED5529FDF4}"/>
                </a:ext>
              </a:extLst>
            </p:cNvPr>
            <p:cNvGrpSpPr/>
            <p:nvPr/>
          </p:nvGrpSpPr>
          <p:grpSpPr>
            <a:xfrm rot="13500000">
              <a:off x="10050525" y="2232148"/>
              <a:ext cx="563489" cy="234387"/>
              <a:chOff x="2332258" y="1820834"/>
              <a:chExt cx="563489" cy="234387"/>
            </a:xfrm>
          </p:grpSpPr>
          <p:cxnSp>
            <p:nvCxnSpPr>
              <p:cNvPr id="39" name="Прямая соединительная линия 38">
                <a:extLst>
                  <a:ext uri="{FF2B5EF4-FFF2-40B4-BE49-F238E27FC236}">
                    <a16:creationId xmlns:a16="http://schemas.microsoft.com/office/drawing/2014/main" id="{AC71A8E9-4646-4413-BEAF-0654039A58B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V="1">
                <a:off x="2580459" y="1745118"/>
                <a:ext cx="0" cy="496401"/>
              </a:xfrm>
              <a:prstGeom prst="line">
                <a:avLst/>
              </a:prstGeom>
              <a:ln w="114300">
                <a:solidFill>
                  <a:srgbClr val="FF00F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Прямая соединительная линия 39">
                <a:extLst>
                  <a:ext uri="{FF2B5EF4-FFF2-40B4-BE49-F238E27FC236}">
                    <a16:creationId xmlns:a16="http://schemas.microsoft.com/office/drawing/2014/main" id="{36D663C8-B94D-4891-AF46-F1BAB136F2CC}"/>
                  </a:ext>
                </a:extLst>
              </p:cNvPr>
              <p:cNvCxnSpPr/>
              <p:nvPr/>
            </p:nvCxnSpPr>
            <p:spPr>
              <a:xfrm flipH="1" flipV="1">
                <a:off x="2632389" y="1820834"/>
                <a:ext cx="191586" cy="191586"/>
              </a:xfrm>
              <a:prstGeom prst="line">
                <a:avLst/>
              </a:prstGeom>
              <a:ln w="114300">
                <a:solidFill>
                  <a:srgbClr val="FF00F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Прямая соединительная линия 40">
                <a:extLst>
                  <a:ext uri="{FF2B5EF4-FFF2-40B4-BE49-F238E27FC236}">
                    <a16:creationId xmlns:a16="http://schemas.microsoft.com/office/drawing/2014/main" id="{017DFEB3-6511-4334-96AC-D0980FE7CBE2}"/>
                  </a:ext>
                </a:extLst>
              </p:cNvPr>
              <p:cNvCxnSpPr>
                <a:cxnSpLocks/>
              </p:cNvCxnSpPr>
              <p:nvPr/>
            </p:nvCxnSpPr>
            <p:spPr>
              <a:xfrm rot="8100000">
                <a:off x="2590433" y="2055221"/>
                <a:ext cx="305314" cy="0"/>
              </a:xfrm>
              <a:prstGeom prst="line">
                <a:avLst/>
              </a:prstGeom>
              <a:ln w="114300">
                <a:solidFill>
                  <a:srgbClr val="FF00F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CE2FF65F-3D65-46CD-B71C-440340365136}"/>
              </a:ext>
            </a:extLst>
          </p:cNvPr>
          <p:cNvSpPr txBox="1"/>
          <p:nvPr/>
        </p:nvSpPr>
        <p:spPr>
          <a:xfrm>
            <a:off x="1667998" y="1151131"/>
            <a:ext cx="758952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9789F8"/>
              </a:buClr>
            </a:pPr>
            <a:r>
              <a:rPr lang="ru-RU" sz="1800" dirty="0">
                <a:latin typeface="KyivType Sans Medium" panose="00000600000000000000" pitchFamily="50" charset="-52"/>
              </a:rPr>
              <a:t>Выводы:</a:t>
            </a:r>
          </a:p>
          <a:p>
            <a:pPr marL="342900" indent="-342900">
              <a:buClr>
                <a:srgbClr val="9789F8"/>
              </a:buClr>
            </a:pPr>
            <a:r>
              <a:rPr sz="1800"/>
              <a:t/>
            </a:r>
            <a:endParaRPr lang="ru-RU" sz="2000" dirty="0">
              <a:latin typeface="KyivType Sans Medium" panose="00000600000000000000" pitchFamily="50" charset="-52"/>
            </a:endParaRPr>
          </a:p>
          <a:p>
            <a:pPr marL="342900" indent="-342900">
              <a:buClr>
                <a:srgbClr val="9789F8"/>
              </a:buClr>
              <a:buFont typeface="Wingdings" panose="05000000000000000000" pitchFamily="2" charset="2"/>
              <a:buChar char="§"/>
            </a:pPr>
            <a:r>
              <a:rPr lang="ru-RU" sz="1800" dirty="0">
                <a:latin typeface="KyivType Sans Medium" panose="00000600000000000000" pitchFamily="50" charset="-52"/>
              </a:rPr>
              <a:t>Выполнены все пункты варианта 10: БД, триггеры, авторизация, роли, формы, 2 запроса, выходной документ</a:t>
            </a:r>
          </a:p>
          <a:p>
            <a:pPr marL="342900" indent="-342900">
              <a:buClr>
                <a:srgbClr val="9789F8"/>
              </a:buClr>
              <a:buFont typeface="Wingdings" panose="05000000000000000000" pitchFamily="2" charset="2"/>
              <a:buChar char="§"/>
            </a:pPr>
            <a:r>
              <a:rPr lang="ru-RU" sz="1800" dirty="0">
                <a:latin typeface="KyivType Sans Medium" panose="00000600000000000000" pitchFamily="50" charset="-52"/>
              </a:rPr>
              <a:t>Правила клуба (лимит 10, 60 минут, скидка 3–10 %) защищены на уровне БД и проверены 63 тестами</a:t>
            </a:r>
          </a:p>
          <a:p>
            <a:pPr marL="342900" indent="-342900">
              <a:buClr>
                <a:srgbClr val="9789F8"/>
              </a:buClr>
              <a:buFont typeface="Wingdings" panose="05000000000000000000" pitchFamily="2" charset="2"/>
              <a:buChar char="§"/>
            </a:pPr>
            <a:r>
              <a:rPr lang="ru-RU" sz="1800" dirty="0">
                <a:latin typeface="KyivType Sans Medium" panose="00000600000000000000" pitchFamily="50" charset="-52"/>
              </a:rPr>
              <a:t>Отличие от задания: ключи — автоинкремент SQLite вместо триггера</a:t>
            </a:r>
          </a:p>
          <a:p>
            <a:pPr marL="342900" indent="-342900">
              <a:buClr>
                <a:srgbClr val="9789F8"/>
              </a:buClr>
              <a:buFont typeface="Wingdings" panose="05000000000000000000" pitchFamily="2" charset="2"/>
              <a:buChar char="§"/>
            </a:pPr>
            <a:r>
              <a:rPr lang="ru-RU" sz="1800" dirty="0">
                <a:latin typeface="KyivType Sans Medium" panose="00000600000000000000" pitchFamily="50" charset="-52"/>
              </a:rPr>
              <a:t>Развитие: журнал действий, уведомления, отчёты по выручке, PostgreSQL</a:t>
            </a:r>
          </a:p>
        </p:txBody>
      </p:sp>
    </p:spTree>
    <p:extLst>
      <p:ext uri="{BB962C8B-B14F-4D97-AF65-F5344CB8AC3E}">
        <p14:creationId xmlns:p14="http://schemas.microsoft.com/office/powerpoint/2010/main" val="885380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E9472D1-0321-474C-B9AB-194B8EC67AC4}"/>
              </a:ext>
            </a:extLst>
          </p:cNvPr>
          <p:cNvSpPr txBox="1"/>
          <p:nvPr/>
        </p:nvSpPr>
        <p:spPr>
          <a:xfrm>
            <a:off x="3511799" y="348840"/>
            <a:ext cx="51684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>
                <a:solidFill>
                  <a:schemeClr val="bg1"/>
                </a:solidFill>
                <a:latin typeface="KyivType Sans Medium" panose="00000600000000000000" pitchFamily="50" charset="-52"/>
              </a:rPr>
              <a:t>КОЛЛЕДЖ МИРОВОЙ ЭКОНОМИКИ</a:t>
            </a:r>
          </a:p>
          <a:p>
            <a:pPr algn="ctr"/>
            <a:r>
              <a:rPr lang="ru-RU" sz="2000" dirty="0">
                <a:solidFill>
                  <a:schemeClr val="bg1"/>
                </a:solidFill>
                <a:latin typeface="KyivType Sans Medium" panose="00000600000000000000" pitchFamily="50" charset="-52"/>
              </a:rPr>
              <a:t>И ПЕРЕДОВЫХ ТЕХНОЛОГИЙ 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6D04F510-6F90-4AD0-BA32-568B3B01D4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3388369" y="2605612"/>
            <a:ext cx="620330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  <a:latin typeface="KyivType Sans Heavy" panose="00000900000000000000" pitchFamily="50" charset="-52"/>
              </a:rPr>
              <a:t>СПАСИБО ЗА ВНИМАНИЕ!</a:t>
            </a:r>
          </a:p>
        </p:txBody>
      </p:sp>
      <p:grpSp>
        <p:nvGrpSpPr>
          <p:cNvPr id="25" name="Группа 24">
            <a:extLst>
              <a:ext uri="{FF2B5EF4-FFF2-40B4-BE49-F238E27FC236}">
                <a16:creationId xmlns:a16="http://schemas.microsoft.com/office/drawing/2014/main" id="{13B95FCF-060F-4BED-94B3-9A3D4ABF1839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17" name="Прямая соединительная линия 16">
              <a:extLst>
                <a:ext uri="{FF2B5EF4-FFF2-40B4-BE49-F238E27FC236}">
                  <a16:creationId xmlns:a16="http://schemas.microsoft.com/office/drawing/2014/main" id="{4C31F697-6AFB-44ED-8355-BD7758533AEE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Прямая соединительная линия 18">
              <a:extLst>
                <a:ext uri="{FF2B5EF4-FFF2-40B4-BE49-F238E27FC236}">
                  <a16:creationId xmlns:a16="http://schemas.microsoft.com/office/drawing/2014/main" id="{7DF8EB41-A9EF-4708-938C-A7DC708F6D3A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Прямая соединительная линия 21">
              <a:extLst>
                <a:ext uri="{FF2B5EF4-FFF2-40B4-BE49-F238E27FC236}">
                  <a16:creationId xmlns:a16="http://schemas.microsoft.com/office/drawing/2014/main" id="{CDEBD25D-3DD4-4488-AEC8-1A116B2AC86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Арка 1">
            <a:extLst>
              <a:ext uri="{FF2B5EF4-FFF2-40B4-BE49-F238E27FC236}">
                <a16:creationId xmlns:a16="http://schemas.microsoft.com/office/drawing/2014/main" id="{D904D32A-5138-4D30-9D0B-CA4F45E227F4}"/>
              </a:ext>
            </a:extLst>
          </p:cNvPr>
          <p:cNvSpPr/>
          <p:nvPr/>
        </p:nvSpPr>
        <p:spPr>
          <a:xfrm>
            <a:off x="361708" y="6049579"/>
            <a:ext cx="914400" cy="914400"/>
          </a:xfrm>
          <a:prstGeom prst="blockArc">
            <a:avLst/>
          </a:prstGeom>
          <a:noFill/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6" name="Арка 15">
            <a:extLst>
              <a:ext uri="{FF2B5EF4-FFF2-40B4-BE49-F238E27FC236}">
                <a16:creationId xmlns:a16="http://schemas.microsoft.com/office/drawing/2014/main" id="{0767E0BB-C250-4D75-939E-BE2453C11737}"/>
              </a:ext>
            </a:extLst>
          </p:cNvPr>
          <p:cNvSpPr/>
          <p:nvPr/>
        </p:nvSpPr>
        <p:spPr>
          <a:xfrm>
            <a:off x="361708" y="5590025"/>
            <a:ext cx="914400" cy="914400"/>
          </a:xfrm>
          <a:prstGeom prst="blockArc">
            <a:avLst/>
          </a:prstGeom>
          <a:noFill/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040142CD-7921-4051-BE24-D7A2B9E5C2C0}"/>
              </a:ext>
            </a:extLst>
          </p:cNvPr>
          <p:cNvGrpSpPr/>
          <p:nvPr/>
        </p:nvGrpSpPr>
        <p:grpSpPr>
          <a:xfrm>
            <a:off x="10898782" y="351221"/>
            <a:ext cx="931509" cy="552590"/>
            <a:chOff x="9586559" y="741479"/>
            <a:chExt cx="2247900" cy="1333500"/>
          </a:xfrm>
          <a:gradFill>
            <a:gsLst>
              <a:gs pos="100000">
                <a:srgbClr val="FF00FF"/>
              </a:gs>
              <a:gs pos="0">
                <a:srgbClr val="293DF4"/>
              </a:gs>
            </a:gsLst>
            <a:lin ang="0" scaled="0"/>
          </a:gradFill>
        </p:grpSpPr>
        <p:sp>
          <p:nvSpPr>
            <p:cNvPr id="3" name="Прямоугольник: скругленные противолежащие углы 2">
              <a:extLst>
                <a:ext uri="{FF2B5EF4-FFF2-40B4-BE49-F238E27FC236}">
                  <a16:creationId xmlns:a16="http://schemas.microsoft.com/office/drawing/2014/main" id="{B1A1B749-C92B-46E5-A15F-DF1ED2D0F2A1}"/>
                </a:ext>
              </a:extLst>
            </p:cNvPr>
            <p:cNvSpPr/>
            <p:nvPr/>
          </p:nvSpPr>
          <p:spPr>
            <a:xfrm>
              <a:off x="9586559" y="741479"/>
              <a:ext cx="914400" cy="666750"/>
            </a:xfrm>
            <a:prstGeom prst="round2DiagRect">
              <a:avLst>
                <a:gd name="adj1" fmla="val 50000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8" name="Прямоугольник: скругленные противолежащие углы 17">
              <a:extLst>
                <a:ext uri="{FF2B5EF4-FFF2-40B4-BE49-F238E27FC236}">
                  <a16:creationId xmlns:a16="http://schemas.microsoft.com/office/drawing/2014/main" id="{3E0A7507-8384-4500-8746-08A0BAC227D0}"/>
                </a:ext>
              </a:extLst>
            </p:cNvPr>
            <p:cNvSpPr/>
            <p:nvPr/>
          </p:nvSpPr>
          <p:spPr>
            <a:xfrm>
              <a:off x="9586559" y="1408229"/>
              <a:ext cx="914400" cy="666750"/>
            </a:xfrm>
            <a:prstGeom prst="round2DiagRect">
              <a:avLst>
                <a:gd name="adj1" fmla="val 50000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" name="Часть круга 4">
              <a:extLst>
                <a:ext uri="{FF2B5EF4-FFF2-40B4-BE49-F238E27FC236}">
                  <a16:creationId xmlns:a16="http://schemas.microsoft.com/office/drawing/2014/main" id="{817538E6-F977-47BA-BFAC-380BC70882B1}"/>
                </a:ext>
              </a:extLst>
            </p:cNvPr>
            <p:cNvSpPr/>
            <p:nvPr/>
          </p:nvSpPr>
          <p:spPr>
            <a:xfrm>
              <a:off x="10500959" y="741479"/>
              <a:ext cx="1333500" cy="1333500"/>
            </a:xfrm>
            <a:prstGeom prst="pi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59818252"/>
      </p:ext>
    </p:extLst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1178029" y="249260"/>
            <a:ext cx="88024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ТРЕБОВАНИЯ ВАРИАНТА 10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FBA19B-59AD-4125-9DF3-AD4E63090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" name="Группа 23">
            <a:extLst>
              <a:ext uri="{FF2B5EF4-FFF2-40B4-BE49-F238E27FC236}">
                <a16:creationId xmlns:a16="http://schemas.microsoft.com/office/drawing/2014/main" id="{C8B95BEE-DFCF-40B1-B13A-160E43EF38B8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8DBFEE1B-FAD5-4785-9E3B-5329244047C0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116ABA84-9B91-4724-A844-6CD10C6031B7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BC4176F-C3AC-474A-8131-820DF2AA1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Группа 32">
            <a:extLst>
              <a:ext uri="{FF2B5EF4-FFF2-40B4-BE49-F238E27FC236}">
                <a16:creationId xmlns:a16="http://schemas.microsoft.com/office/drawing/2014/main" id="{54883227-2BCB-4605-89FE-C937969443AF}"/>
              </a:ext>
            </a:extLst>
          </p:cNvPr>
          <p:cNvGrpSpPr/>
          <p:nvPr/>
        </p:nvGrpSpPr>
        <p:grpSpPr>
          <a:xfrm rot="5400000">
            <a:off x="9532229" y="1579061"/>
            <a:ext cx="1782138" cy="1301154"/>
            <a:chOff x="9404916" y="1524706"/>
            <a:chExt cx="1568126" cy="1144902"/>
          </a:xfrm>
        </p:grpSpPr>
        <p:sp>
          <p:nvSpPr>
            <p:cNvPr id="34" name="Прямоугольник: усеченные противолежащие углы 33">
              <a:extLst>
                <a:ext uri="{FF2B5EF4-FFF2-40B4-BE49-F238E27FC236}">
                  <a16:creationId xmlns:a16="http://schemas.microsoft.com/office/drawing/2014/main" id="{CE0044F3-F10A-4983-AC15-ADD21B3CEDEC}"/>
                </a:ext>
              </a:extLst>
            </p:cNvPr>
            <p:cNvSpPr/>
            <p:nvPr/>
          </p:nvSpPr>
          <p:spPr>
            <a:xfrm flipH="1">
              <a:off x="9724547" y="1524706"/>
              <a:ext cx="1248495" cy="479958"/>
            </a:xfrm>
            <a:prstGeom prst="snip2DiagRect">
              <a:avLst>
                <a:gd name="adj1" fmla="val 0"/>
                <a:gd name="adj2" fmla="val 50000"/>
              </a:avLst>
            </a:prstGeom>
            <a:noFill/>
            <a:ln w="28575">
              <a:solidFill>
                <a:srgbClr val="293DF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35" name="Овал 34">
              <a:extLst>
                <a:ext uri="{FF2B5EF4-FFF2-40B4-BE49-F238E27FC236}">
                  <a16:creationId xmlns:a16="http://schemas.microsoft.com/office/drawing/2014/main" id="{407E6762-F69C-4E1E-80EA-9F7759F60626}"/>
                </a:ext>
              </a:extLst>
            </p:cNvPr>
            <p:cNvSpPr/>
            <p:nvPr/>
          </p:nvSpPr>
          <p:spPr>
            <a:xfrm>
              <a:off x="9404916" y="1764685"/>
              <a:ext cx="239979" cy="239979"/>
            </a:xfrm>
            <a:prstGeom prst="ellipse">
              <a:avLst/>
            </a:prstGeom>
            <a:noFill/>
            <a:ln w="28575">
              <a:solidFill>
                <a:srgbClr val="FF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42" name="Прямоугольник 41">
              <a:extLst>
                <a:ext uri="{FF2B5EF4-FFF2-40B4-BE49-F238E27FC236}">
                  <a16:creationId xmlns:a16="http://schemas.microsoft.com/office/drawing/2014/main" id="{FFCCEAF9-B57A-4791-B4D8-88A22764EB62}"/>
                </a:ext>
              </a:extLst>
            </p:cNvPr>
            <p:cNvSpPr/>
            <p:nvPr/>
          </p:nvSpPr>
          <p:spPr>
            <a:xfrm>
              <a:off x="9724546" y="2079482"/>
              <a:ext cx="257654" cy="257654"/>
            </a:xfrm>
            <a:prstGeom prst="rect">
              <a:avLst/>
            </a:prstGeom>
            <a:noFill/>
            <a:ln w="28575">
              <a:solidFill>
                <a:srgbClr val="00FE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43" name="Прямоугольник 42">
              <a:extLst>
                <a:ext uri="{FF2B5EF4-FFF2-40B4-BE49-F238E27FC236}">
                  <a16:creationId xmlns:a16="http://schemas.microsoft.com/office/drawing/2014/main" id="{3E7D705F-6ECA-4104-94D5-9F737A21D95F}"/>
                </a:ext>
              </a:extLst>
            </p:cNvPr>
            <p:cNvSpPr/>
            <p:nvPr/>
          </p:nvSpPr>
          <p:spPr>
            <a:xfrm>
              <a:off x="9724546" y="2411954"/>
              <a:ext cx="257654" cy="257654"/>
            </a:xfrm>
            <a:prstGeom prst="rect">
              <a:avLst/>
            </a:prstGeom>
            <a:noFill/>
            <a:ln w="28575">
              <a:solidFill>
                <a:srgbClr val="00FE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</p:grpSp>
      <p:graphicFrame>
        <p:nvGraphicFramePr>
          <p:cNvPr id="44" name="Table 43"/>
          <p:cNvGraphicFramePr>
            <a:graphicFrameLocks noGrp="1"/>
          </p:cNvGraphicFramePr>
          <p:nvPr/>
        </p:nvGraphicFramePr>
        <p:xfrm>
          <a:off x="822960" y="1188720"/>
          <a:ext cx="8503920" cy="45262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297680"/>
                <a:gridCol w="4206240"/>
              </a:tblGrid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Требование задания</a:t>
                      </a:r>
                    </a:p>
                  </a:txBody>
                  <a:tcPr anchor="ctr" marL="91440" marR="91440">
                    <a:solidFill>
                      <a:srgbClr val="5B4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Реализация</a:t>
                      </a:r>
                    </a:p>
                  </a:txBody>
                  <a:tcPr anchor="ctr" marL="91440" marR="91440">
                    <a:solidFill>
                      <a:srgbClr val="5B4B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БД, ограничения, ссылочная целостность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8 таблиц, FK, CHECK, UNIQUE, PROTECT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Триггер: длительность по умолчанию 60 мин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AFTER INSERT / UPDATE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Не более 10 человек в группе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BEFORE INSERT / UPDATE + форма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Авторизация, логины в таблице БД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форма входа, таблица auth_user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Роли: администратор, оператор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группы Django, ответ 403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Формы добавления / просмотра / правки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CRUD для 8 таблиц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Два запроса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группы и клиенты; М/Ж по видам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Выходной документ «Зал №…»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расписание по дням недели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1178029" y="249260"/>
            <a:ext cx="88024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ТАБЛИЦЫ И ОГРАНИЧЕНИЯ БД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FBA19B-59AD-4125-9DF3-AD4E63090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" name="Группа 23">
            <a:extLst>
              <a:ext uri="{FF2B5EF4-FFF2-40B4-BE49-F238E27FC236}">
                <a16:creationId xmlns:a16="http://schemas.microsoft.com/office/drawing/2014/main" id="{C8B95BEE-DFCF-40B1-B13A-160E43EF38B8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8DBFEE1B-FAD5-4785-9E3B-5329244047C0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116ABA84-9B91-4724-A844-6CD10C6031B7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BC4176F-C3AC-474A-8131-820DF2AA1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Группа 32">
            <a:extLst>
              <a:ext uri="{FF2B5EF4-FFF2-40B4-BE49-F238E27FC236}">
                <a16:creationId xmlns:a16="http://schemas.microsoft.com/office/drawing/2014/main" id="{54883227-2BCB-4605-89FE-C937969443AF}"/>
              </a:ext>
            </a:extLst>
          </p:cNvPr>
          <p:cNvGrpSpPr/>
          <p:nvPr/>
        </p:nvGrpSpPr>
        <p:grpSpPr>
          <a:xfrm rot="5400000">
            <a:off x="9532229" y="1579061"/>
            <a:ext cx="1782138" cy="1301154"/>
            <a:chOff x="9404916" y="1524706"/>
            <a:chExt cx="1568126" cy="1144902"/>
          </a:xfrm>
        </p:grpSpPr>
        <p:sp>
          <p:nvSpPr>
            <p:cNvPr id="34" name="Прямоугольник: усеченные противолежащие углы 33">
              <a:extLst>
                <a:ext uri="{FF2B5EF4-FFF2-40B4-BE49-F238E27FC236}">
                  <a16:creationId xmlns:a16="http://schemas.microsoft.com/office/drawing/2014/main" id="{CE0044F3-F10A-4983-AC15-ADD21B3CEDEC}"/>
                </a:ext>
              </a:extLst>
            </p:cNvPr>
            <p:cNvSpPr/>
            <p:nvPr/>
          </p:nvSpPr>
          <p:spPr>
            <a:xfrm flipH="1">
              <a:off x="9724547" y="1524706"/>
              <a:ext cx="1248495" cy="479958"/>
            </a:xfrm>
            <a:prstGeom prst="snip2DiagRect">
              <a:avLst>
                <a:gd name="adj1" fmla="val 0"/>
                <a:gd name="adj2" fmla="val 50000"/>
              </a:avLst>
            </a:prstGeom>
            <a:noFill/>
            <a:ln w="28575">
              <a:solidFill>
                <a:srgbClr val="293DF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35" name="Овал 34">
              <a:extLst>
                <a:ext uri="{FF2B5EF4-FFF2-40B4-BE49-F238E27FC236}">
                  <a16:creationId xmlns:a16="http://schemas.microsoft.com/office/drawing/2014/main" id="{407E6762-F69C-4E1E-80EA-9F7759F60626}"/>
                </a:ext>
              </a:extLst>
            </p:cNvPr>
            <p:cNvSpPr/>
            <p:nvPr/>
          </p:nvSpPr>
          <p:spPr>
            <a:xfrm>
              <a:off x="9404916" y="1764685"/>
              <a:ext cx="239979" cy="239979"/>
            </a:xfrm>
            <a:prstGeom prst="ellipse">
              <a:avLst/>
            </a:prstGeom>
            <a:noFill/>
            <a:ln w="28575">
              <a:solidFill>
                <a:srgbClr val="FF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42" name="Прямоугольник 41">
              <a:extLst>
                <a:ext uri="{FF2B5EF4-FFF2-40B4-BE49-F238E27FC236}">
                  <a16:creationId xmlns:a16="http://schemas.microsoft.com/office/drawing/2014/main" id="{FFCCEAF9-B57A-4791-B4D8-88A22764EB62}"/>
                </a:ext>
              </a:extLst>
            </p:cNvPr>
            <p:cNvSpPr/>
            <p:nvPr/>
          </p:nvSpPr>
          <p:spPr>
            <a:xfrm>
              <a:off x="9724546" y="2079482"/>
              <a:ext cx="257654" cy="257654"/>
            </a:xfrm>
            <a:prstGeom prst="rect">
              <a:avLst/>
            </a:prstGeom>
            <a:noFill/>
            <a:ln w="28575">
              <a:solidFill>
                <a:srgbClr val="00FE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43" name="Прямоугольник 42">
              <a:extLst>
                <a:ext uri="{FF2B5EF4-FFF2-40B4-BE49-F238E27FC236}">
                  <a16:creationId xmlns:a16="http://schemas.microsoft.com/office/drawing/2014/main" id="{3E7D705F-6ECA-4104-94D5-9F737A21D95F}"/>
                </a:ext>
              </a:extLst>
            </p:cNvPr>
            <p:cNvSpPr/>
            <p:nvPr/>
          </p:nvSpPr>
          <p:spPr>
            <a:xfrm>
              <a:off x="9724546" y="2411954"/>
              <a:ext cx="257654" cy="257654"/>
            </a:xfrm>
            <a:prstGeom prst="rect">
              <a:avLst/>
            </a:prstGeom>
            <a:noFill/>
            <a:ln w="28575">
              <a:solidFill>
                <a:srgbClr val="00FE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</p:grpSp>
      <p:graphicFrame>
        <p:nvGraphicFramePr>
          <p:cNvPr id="44" name="Table 43"/>
          <p:cNvGraphicFramePr>
            <a:graphicFrameLocks noGrp="1"/>
          </p:cNvGraphicFramePr>
          <p:nvPr/>
        </p:nvGraphicFramePr>
        <p:xfrm>
          <a:off x="822960" y="1280160"/>
          <a:ext cx="8503920" cy="38404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377440"/>
                <a:gridCol w="2103120"/>
                <a:gridCol w="4023360"/>
              </a:tblGrid>
              <a:tr h="5486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Таблица</a:t>
                      </a:r>
                    </a:p>
                  </a:txBody>
                  <a:tcPr anchor="ctr" marL="91440" marR="91440">
                    <a:solidFill>
                      <a:srgbClr val="5B4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Назначение</a:t>
                      </a:r>
                    </a:p>
                  </a:txBody>
                  <a:tcPr anchor="ctr" marL="91440" marR="91440">
                    <a:solidFill>
                      <a:srgbClr val="5B4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Ограничения</a:t>
                      </a:r>
                    </a:p>
                  </a:txBody>
                  <a:tcPr anchor="ctr" marL="91440" marR="91440">
                    <a:solidFill>
                      <a:srgbClr val="5B4BE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Client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клиент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phone по шаблону, gender M/F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Section, Trainer, Hall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справочники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name и number уникальны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Group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группа занятий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weekday 0–6, price ≥ 0, FK PROTECT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Enrollment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запись клиента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UNIQUE(client, group), лимит 10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Subscription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абонемент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CHECK скидка 3..10, end ≥ start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Visit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посещение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</a:rPr>
                        <a:t>UNIQUE(запись, дата)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</a:tr>
            </a:tbl>
          </a:graphicData>
        </a:graphic>
      </p:graphicFrame>
      <p:sp>
        <p:nvSpPr>
          <p:cNvPr id="45" name="TextBox 44"/>
          <p:cNvSpPr txBox="1"/>
          <p:nvPr/>
        </p:nvSpPr>
        <p:spPr>
          <a:xfrm>
            <a:off x="822960" y="5303520"/>
            <a:ext cx="8503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</a:rPr>
              <a:t>Секцию, тренера и зал с группами удалить нельзя (PROTECT); при удалении клиента его записи, абонементы и посещения удаляются каскадом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1178029" y="249260"/>
            <a:ext cx="88024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ТРИГГЕРЫ БАЗЫ ДАННЫХ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FBA19B-59AD-4125-9DF3-AD4E63090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" name="Группа 23">
            <a:extLst>
              <a:ext uri="{FF2B5EF4-FFF2-40B4-BE49-F238E27FC236}">
                <a16:creationId xmlns:a16="http://schemas.microsoft.com/office/drawing/2014/main" id="{C8B95BEE-DFCF-40B1-B13A-160E43EF38B8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8DBFEE1B-FAD5-4785-9E3B-5329244047C0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116ABA84-9B91-4724-A844-6CD10C6031B7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BC4176F-C3AC-474A-8131-820DF2AA1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Группа 32">
            <a:extLst>
              <a:ext uri="{FF2B5EF4-FFF2-40B4-BE49-F238E27FC236}">
                <a16:creationId xmlns:a16="http://schemas.microsoft.com/office/drawing/2014/main" id="{54883227-2BCB-4605-89FE-C937969443AF}"/>
              </a:ext>
            </a:extLst>
          </p:cNvPr>
          <p:cNvGrpSpPr/>
          <p:nvPr/>
        </p:nvGrpSpPr>
        <p:grpSpPr>
          <a:xfrm rot="5400000">
            <a:off x="9532229" y="1579061"/>
            <a:ext cx="1782138" cy="1301154"/>
            <a:chOff x="9404916" y="1524706"/>
            <a:chExt cx="1568126" cy="1144902"/>
          </a:xfrm>
        </p:grpSpPr>
        <p:sp>
          <p:nvSpPr>
            <p:cNvPr id="34" name="Прямоугольник: усеченные противолежащие углы 33">
              <a:extLst>
                <a:ext uri="{FF2B5EF4-FFF2-40B4-BE49-F238E27FC236}">
                  <a16:creationId xmlns:a16="http://schemas.microsoft.com/office/drawing/2014/main" id="{CE0044F3-F10A-4983-AC15-ADD21B3CEDEC}"/>
                </a:ext>
              </a:extLst>
            </p:cNvPr>
            <p:cNvSpPr/>
            <p:nvPr/>
          </p:nvSpPr>
          <p:spPr>
            <a:xfrm flipH="1">
              <a:off x="9724547" y="1524706"/>
              <a:ext cx="1248495" cy="479958"/>
            </a:xfrm>
            <a:prstGeom prst="snip2DiagRect">
              <a:avLst>
                <a:gd name="adj1" fmla="val 0"/>
                <a:gd name="adj2" fmla="val 50000"/>
              </a:avLst>
            </a:prstGeom>
            <a:noFill/>
            <a:ln w="28575">
              <a:solidFill>
                <a:srgbClr val="293DF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35" name="Овал 34">
              <a:extLst>
                <a:ext uri="{FF2B5EF4-FFF2-40B4-BE49-F238E27FC236}">
                  <a16:creationId xmlns:a16="http://schemas.microsoft.com/office/drawing/2014/main" id="{407E6762-F69C-4E1E-80EA-9F7759F60626}"/>
                </a:ext>
              </a:extLst>
            </p:cNvPr>
            <p:cNvSpPr/>
            <p:nvPr/>
          </p:nvSpPr>
          <p:spPr>
            <a:xfrm>
              <a:off x="9404916" y="1764685"/>
              <a:ext cx="239979" cy="239979"/>
            </a:xfrm>
            <a:prstGeom prst="ellipse">
              <a:avLst/>
            </a:prstGeom>
            <a:noFill/>
            <a:ln w="28575">
              <a:solidFill>
                <a:srgbClr val="FF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42" name="Прямоугольник 41">
              <a:extLst>
                <a:ext uri="{FF2B5EF4-FFF2-40B4-BE49-F238E27FC236}">
                  <a16:creationId xmlns:a16="http://schemas.microsoft.com/office/drawing/2014/main" id="{FFCCEAF9-B57A-4791-B4D8-88A22764EB62}"/>
                </a:ext>
              </a:extLst>
            </p:cNvPr>
            <p:cNvSpPr/>
            <p:nvPr/>
          </p:nvSpPr>
          <p:spPr>
            <a:xfrm>
              <a:off x="9724546" y="2079482"/>
              <a:ext cx="257654" cy="257654"/>
            </a:xfrm>
            <a:prstGeom prst="rect">
              <a:avLst/>
            </a:prstGeom>
            <a:noFill/>
            <a:ln w="28575">
              <a:solidFill>
                <a:srgbClr val="00FE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43" name="Прямоугольник 42">
              <a:extLst>
                <a:ext uri="{FF2B5EF4-FFF2-40B4-BE49-F238E27FC236}">
                  <a16:creationId xmlns:a16="http://schemas.microsoft.com/office/drawing/2014/main" id="{3E7D705F-6ECA-4104-94D5-9F737A21D95F}"/>
                </a:ext>
              </a:extLst>
            </p:cNvPr>
            <p:cNvSpPr/>
            <p:nvPr/>
          </p:nvSpPr>
          <p:spPr>
            <a:xfrm>
              <a:off x="9724546" y="2411954"/>
              <a:ext cx="257654" cy="257654"/>
            </a:xfrm>
            <a:prstGeom prst="rect">
              <a:avLst/>
            </a:prstGeom>
            <a:noFill/>
            <a:ln w="28575">
              <a:solidFill>
                <a:srgbClr val="00FE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</p:grpSp>
      <p:sp>
        <p:nvSpPr>
          <p:cNvPr id="44" name="Rounded Rectangle 43"/>
          <p:cNvSpPr/>
          <p:nvPr/>
        </p:nvSpPr>
        <p:spPr>
          <a:xfrm>
            <a:off x="822960" y="1188720"/>
            <a:ext cx="8595360" cy="3657600"/>
          </a:xfrm>
          <a:prstGeom prst="roundRect">
            <a:avLst>
              <a:gd name="adj" fmla="val 4000"/>
            </a:avLst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5840" y="1280160"/>
            <a:ext cx="82296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>-- Длительность по умолчанию: 60 минут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>CREATE TRIGGER trg_group_default_duration_ins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>AFTER INSERT ON club_group WHEN NEW.duration_min IS NULL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>BEGIN UPDATE club_group SET duration_min = 60 WHERE id = NEW.id; END;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/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>-- Не более 10 человек в группе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>CREATE TRIGGER trg_enrollment_capacity_ins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>BEFORE INSERT ON club_enrollment WHEN NEW.status IN ('booked','active')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>BEGIN SELECT RAISE(ABORT,'В группе уже 10 человек')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> WHERE (SELECT COUNT(*) FROM club_enrollment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>   WHERE group_id=NEW.group_id AND status IN ('booked','active')) &gt;= 10; END;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" y="5029200"/>
            <a:ext cx="85039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85750" indent="-285750">
              <a:spcAft>
                <a:spcPts val="400"/>
              </a:spcAft>
              <a:buClr>
                <a:srgbClr val="5B4BE8"/>
              </a:buClr>
              <a:buFont typeface="Arial"/>
              <a:buChar char="•"/>
            </a:pPr>
            <a:r>
              <a:rPr sz="1500" b="0">
                <a:solidFill>
                  <a:srgbClr val="111111"/>
                </a:solidFill>
              </a:rPr>
              <a:t>Триггеры создаются миграцией вместе со схемой; те же правила проверяет форма (понятная ошибка)</a:t>
            </a:r>
          </a:p>
          <a:p>
            <a:pPr algn="l" marL="285750" indent="-285750">
              <a:spcAft>
                <a:spcPts val="400"/>
              </a:spcAft>
              <a:buClr>
                <a:srgbClr val="5B4BE8"/>
              </a:buClr>
              <a:buFont typeface="Arial"/>
              <a:buChar char="•"/>
            </a:pPr>
            <a:r>
              <a:rPr sz="1500" b="0">
                <a:solidFill>
                  <a:srgbClr val="111111"/>
                </a:solidFill>
              </a:rPr>
              <a:t>Ключи генерирует AUTOINCREMENT SQLite вместо отдельного триггера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1178029" y="249260"/>
            <a:ext cx="88024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РОЛИ И ПРАВА ДОСТУПА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FBA19B-59AD-4125-9DF3-AD4E63090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" name="Группа 23">
            <a:extLst>
              <a:ext uri="{FF2B5EF4-FFF2-40B4-BE49-F238E27FC236}">
                <a16:creationId xmlns:a16="http://schemas.microsoft.com/office/drawing/2014/main" id="{C8B95BEE-DFCF-40B1-B13A-160E43EF38B8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8DBFEE1B-FAD5-4785-9E3B-5329244047C0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116ABA84-9B91-4724-A844-6CD10C6031B7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BC4176F-C3AC-474A-8131-820DF2AA1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Группа 32">
            <a:extLst>
              <a:ext uri="{FF2B5EF4-FFF2-40B4-BE49-F238E27FC236}">
                <a16:creationId xmlns:a16="http://schemas.microsoft.com/office/drawing/2014/main" id="{54883227-2BCB-4605-89FE-C937969443AF}"/>
              </a:ext>
            </a:extLst>
          </p:cNvPr>
          <p:cNvGrpSpPr/>
          <p:nvPr/>
        </p:nvGrpSpPr>
        <p:grpSpPr>
          <a:xfrm rot="5400000">
            <a:off x="9532229" y="1579061"/>
            <a:ext cx="1782138" cy="1301154"/>
            <a:chOff x="9404916" y="1524706"/>
            <a:chExt cx="1568126" cy="1144902"/>
          </a:xfrm>
        </p:grpSpPr>
        <p:sp>
          <p:nvSpPr>
            <p:cNvPr id="34" name="Прямоугольник: усеченные противолежащие углы 33">
              <a:extLst>
                <a:ext uri="{FF2B5EF4-FFF2-40B4-BE49-F238E27FC236}">
                  <a16:creationId xmlns:a16="http://schemas.microsoft.com/office/drawing/2014/main" id="{CE0044F3-F10A-4983-AC15-ADD21B3CEDEC}"/>
                </a:ext>
              </a:extLst>
            </p:cNvPr>
            <p:cNvSpPr/>
            <p:nvPr/>
          </p:nvSpPr>
          <p:spPr>
            <a:xfrm flipH="1">
              <a:off x="9724547" y="1524706"/>
              <a:ext cx="1248495" cy="479958"/>
            </a:xfrm>
            <a:prstGeom prst="snip2DiagRect">
              <a:avLst>
                <a:gd name="adj1" fmla="val 0"/>
                <a:gd name="adj2" fmla="val 50000"/>
              </a:avLst>
            </a:prstGeom>
            <a:noFill/>
            <a:ln w="28575">
              <a:solidFill>
                <a:srgbClr val="293DF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35" name="Овал 34">
              <a:extLst>
                <a:ext uri="{FF2B5EF4-FFF2-40B4-BE49-F238E27FC236}">
                  <a16:creationId xmlns:a16="http://schemas.microsoft.com/office/drawing/2014/main" id="{407E6762-F69C-4E1E-80EA-9F7759F60626}"/>
                </a:ext>
              </a:extLst>
            </p:cNvPr>
            <p:cNvSpPr/>
            <p:nvPr/>
          </p:nvSpPr>
          <p:spPr>
            <a:xfrm>
              <a:off x="9404916" y="1764685"/>
              <a:ext cx="239979" cy="239979"/>
            </a:xfrm>
            <a:prstGeom prst="ellipse">
              <a:avLst/>
            </a:prstGeom>
            <a:noFill/>
            <a:ln w="28575">
              <a:solidFill>
                <a:srgbClr val="FF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42" name="Прямоугольник 41">
              <a:extLst>
                <a:ext uri="{FF2B5EF4-FFF2-40B4-BE49-F238E27FC236}">
                  <a16:creationId xmlns:a16="http://schemas.microsoft.com/office/drawing/2014/main" id="{FFCCEAF9-B57A-4791-B4D8-88A22764EB62}"/>
                </a:ext>
              </a:extLst>
            </p:cNvPr>
            <p:cNvSpPr/>
            <p:nvPr/>
          </p:nvSpPr>
          <p:spPr>
            <a:xfrm>
              <a:off x="9724546" y="2079482"/>
              <a:ext cx="257654" cy="257654"/>
            </a:xfrm>
            <a:prstGeom prst="rect">
              <a:avLst/>
            </a:prstGeom>
            <a:noFill/>
            <a:ln w="28575">
              <a:solidFill>
                <a:srgbClr val="00FE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43" name="Прямоугольник 42">
              <a:extLst>
                <a:ext uri="{FF2B5EF4-FFF2-40B4-BE49-F238E27FC236}">
                  <a16:creationId xmlns:a16="http://schemas.microsoft.com/office/drawing/2014/main" id="{3E7D705F-6ECA-4104-94D5-9F737A21D95F}"/>
                </a:ext>
              </a:extLst>
            </p:cNvPr>
            <p:cNvSpPr/>
            <p:nvPr/>
          </p:nvSpPr>
          <p:spPr>
            <a:xfrm>
              <a:off x="9724546" y="2411954"/>
              <a:ext cx="257654" cy="257654"/>
            </a:xfrm>
            <a:prstGeom prst="rect">
              <a:avLst/>
            </a:prstGeom>
            <a:noFill/>
            <a:ln w="28575">
              <a:solidFill>
                <a:srgbClr val="00FE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</p:grpSp>
      <p:graphicFrame>
        <p:nvGraphicFramePr>
          <p:cNvPr id="44" name="Table 43"/>
          <p:cNvGraphicFramePr>
            <a:graphicFrameLocks noGrp="1"/>
          </p:cNvGraphicFramePr>
          <p:nvPr/>
        </p:nvGraphicFramePr>
        <p:xfrm>
          <a:off x="822960" y="1280160"/>
          <a:ext cx="8503920" cy="32004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5212080"/>
                <a:gridCol w="1371600"/>
                <a:gridCol w="1920240"/>
              </a:tblGrid>
              <a:tr h="64008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Возможность</a:t>
                      </a:r>
                    </a:p>
                  </a:txBody>
                  <a:tcPr anchor="ctr" marL="91440" marR="91440">
                    <a:solidFill>
                      <a:srgbClr val="5B4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Оператор</a:t>
                      </a:r>
                    </a:p>
                  </a:txBody>
                  <a:tcPr anchor="ctr" marL="91440" marR="91440">
                    <a:solidFill>
                      <a:srgbClr val="5B4B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Администратор</a:t>
                      </a:r>
                    </a:p>
                  </a:txBody>
                  <a:tcPr anchor="ctr" marL="91440" marR="91440">
                    <a:solidFill>
                      <a:srgbClr val="5B4BE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111"/>
                          </a:solidFill>
                        </a:rPr>
                        <a:t>Клиенты, записи, посещения, абонементы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111"/>
                          </a:solidFill>
                        </a:rPr>
                        <a:t>✓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111"/>
                          </a:solidFill>
                        </a:rPr>
                        <a:t>✓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111"/>
                          </a:solidFill>
                        </a:rPr>
                        <a:t>Запросы, расчёт стоимости, печать расписания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111"/>
                          </a:solidFill>
                        </a:rPr>
                        <a:t>✓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111"/>
                          </a:solidFill>
                        </a:rPr>
                        <a:t>✓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111"/>
                          </a:solidFill>
                        </a:rPr>
                        <a:t>Справочники: секции, тренеры, залы, группы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111"/>
                          </a:solidFill>
                        </a:rPr>
                        <a:t>—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111"/>
                          </a:solidFill>
                        </a:rPr>
                        <a:t>✓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111"/>
                          </a:solidFill>
                        </a:rPr>
                        <a:t>Добавление новых операторов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111"/>
                          </a:solidFill>
                        </a:rPr>
                        <a:t>—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111"/>
                          </a:solidFill>
                        </a:rPr>
                        <a:t>✓</a:t>
                      </a:r>
                    </a:p>
                  </a:txBody>
                  <a:tcPr anchor="ctr" marL="91440" marR="91440">
                    <a:solidFill>
                      <a:srgbClr val="EEEBFD"/>
                    </a:solidFill>
                  </a:tcPr>
                </a:tc>
              </a:tr>
            </a:tbl>
          </a:graphicData>
        </a:graphic>
      </p:graphicFrame>
      <p:sp>
        <p:nvSpPr>
          <p:cNvPr id="45" name="TextBox 44"/>
          <p:cNvSpPr txBox="1"/>
          <p:nvPr/>
        </p:nvSpPr>
        <p:spPr>
          <a:xfrm>
            <a:off x="822960" y="4754880"/>
            <a:ext cx="8503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85750" indent="-285750">
              <a:spcAft>
                <a:spcPts val="6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Роль определяется группой Django; доступ проверяется на сервере, иначе ответ 403</a:t>
            </a:r>
          </a:p>
          <a:p>
            <a:pPr algn="l" marL="285750" indent="-285750">
              <a:spcAft>
                <a:spcPts val="6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Логины и пароли хранятся в таблице БД, пароли — только хешами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1178029" y="249260"/>
            <a:ext cx="88024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ИНТЕРФЕЙС: ФОРМЫ ДАННЫХ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FBA19B-59AD-4125-9DF3-AD4E63090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" name="Группа 23">
            <a:extLst>
              <a:ext uri="{FF2B5EF4-FFF2-40B4-BE49-F238E27FC236}">
                <a16:creationId xmlns:a16="http://schemas.microsoft.com/office/drawing/2014/main" id="{C8B95BEE-DFCF-40B1-B13A-160E43EF38B8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8DBFEE1B-FAD5-4785-9E3B-5329244047C0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116ABA84-9B91-4724-A844-6CD10C6031B7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BC4176F-C3AC-474A-8131-820DF2AA1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0" name="Picture 29" descr="cli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51635"/>
            <a:ext cx="5394960" cy="3371850"/>
          </a:xfrm>
          <a:prstGeom prst="rect">
            <a:avLst/>
          </a:prstGeom>
        </p:spPr>
      </p:pic>
      <p:pic>
        <p:nvPicPr>
          <p:cNvPr id="31" name="Picture 30" descr="enrollmen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623060"/>
            <a:ext cx="5486400" cy="34290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40080" y="56235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</a:rPr>
              <a:t>Просмотр, добавление, редактирование и удаление; статусы записей — цветные бейджи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1178029" y="249260"/>
            <a:ext cx="88024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ИНТЕРФЕЙС: ДОБАВЛЕНИЕ И СПРАВОЧНИКИ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FBA19B-59AD-4125-9DF3-AD4E63090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" name="Группа 23">
            <a:extLst>
              <a:ext uri="{FF2B5EF4-FFF2-40B4-BE49-F238E27FC236}">
                <a16:creationId xmlns:a16="http://schemas.microsoft.com/office/drawing/2014/main" id="{C8B95BEE-DFCF-40B1-B13A-160E43EF38B8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8DBFEE1B-FAD5-4785-9E3B-5329244047C0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116ABA84-9B91-4724-A844-6CD10C6031B7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BC4176F-C3AC-474A-8131-820DF2AA1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0" name="Picture 29" descr="client_fo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51635"/>
            <a:ext cx="5394960" cy="3371850"/>
          </a:xfrm>
          <a:prstGeom prst="rect">
            <a:avLst/>
          </a:prstGeom>
        </p:spPr>
      </p:pic>
      <p:pic>
        <p:nvPicPr>
          <p:cNvPr id="31" name="Picture 30" descr="group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623060"/>
            <a:ext cx="5486400" cy="34290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40080" y="56235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</a:rPr>
              <a:t>Валидация на сервере; справочники групп, секций, тренеров и залов доступны только администратору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1178029" y="249260"/>
            <a:ext cx="88024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ЗАПРОС 2 И РАСЧЁТ СТОИМОСТИ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FBA19B-59AD-4125-9DF3-AD4E63090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" name="Группа 23">
            <a:extLst>
              <a:ext uri="{FF2B5EF4-FFF2-40B4-BE49-F238E27FC236}">
                <a16:creationId xmlns:a16="http://schemas.microsoft.com/office/drawing/2014/main" id="{C8B95BEE-DFCF-40B1-B13A-160E43EF38B8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8DBFEE1B-FAD5-4785-9E3B-5329244047C0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116ABA84-9B91-4724-A844-6CD10C6031B7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BC4176F-C3AC-474A-8131-820DF2AA1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0" name="Picture 29" descr="q_ge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514475"/>
            <a:ext cx="5394960" cy="3371850"/>
          </a:xfrm>
          <a:prstGeom prst="rect">
            <a:avLst/>
          </a:prstGeom>
        </p:spPr>
      </p:pic>
      <p:pic>
        <p:nvPicPr>
          <p:cNvPr id="31" name="Picture 30" descr="co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485900"/>
            <a:ext cx="5486400" cy="34290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40080" y="5349240"/>
            <a:ext cx="5394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</a:rPr>
              <a:t>Вид занятий — клиентов-мужчин — клиентов-женщин; клиент в нескольких группах секции считается один раз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5349240"/>
            <a:ext cx="5486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</a:rPr>
              <a:t>Стоимость = цена × (100 − скидка) / 100; скидка по абонементу, пропуски не оплачиваются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1178029" y="249260"/>
            <a:ext cx="88024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НЕПРЕРЫВНАЯ ИНТЕГРАЦИЯ: GITHUB ACTIONS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FBA19B-59AD-4125-9DF3-AD4E63090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" name="Группа 23">
            <a:extLst>
              <a:ext uri="{FF2B5EF4-FFF2-40B4-BE49-F238E27FC236}">
                <a16:creationId xmlns:a16="http://schemas.microsoft.com/office/drawing/2014/main" id="{C8B95BEE-DFCF-40B1-B13A-160E43EF38B8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8DBFEE1B-FAD5-4785-9E3B-5329244047C0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116ABA84-9B91-4724-A844-6CD10C6031B7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BC4176F-C3AC-474A-8131-820DF2AA1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Группа 32">
            <a:extLst>
              <a:ext uri="{FF2B5EF4-FFF2-40B4-BE49-F238E27FC236}">
                <a16:creationId xmlns:a16="http://schemas.microsoft.com/office/drawing/2014/main" id="{54883227-2BCB-4605-89FE-C937969443AF}"/>
              </a:ext>
            </a:extLst>
          </p:cNvPr>
          <p:cNvGrpSpPr/>
          <p:nvPr/>
        </p:nvGrpSpPr>
        <p:grpSpPr>
          <a:xfrm rot="5400000">
            <a:off x="9532229" y="1579061"/>
            <a:ext cx="1782138" cy="1301154"/>
            <a:chOff x="9404916" y="1524706"/>
            <a:chExt cx="1568126" cy="1144902"/>
          </a:xfrm>
        </p:grpSpPr>
        <p:sp>
          <p:nvSpPr>
            <p:cNvPr id="34" name="Прямоугольник: усеченные противолежащие углы 33">
              <a:extLst>
                <a:ext uri="{FF2B5EF4-FFF2-40B4-BE49-F238E27FC236}">
                  <a16:creationId xmlns:a16="http://schemas.microsoft.com/office/drawing/2014/main" id="{CE0044F3-F10A-4983-AC15-ADD21B3CEDEC}"/>
                </a:ext>
              </a:extLst>
            </p:cNvPr>
            <p:cNvSpPr/>
            <p:nvPr/>
          </p:nvSpPr>
          <p:spPr>
            <a:xfrm flipH="1">
              <a:off x="9724547" y="1524706"/>
              <a:ext cx="1248495" cy="479958"/>
            </a:xfrm>
            <a:prstGeom prst="snip2DiagRect">
              <a:avLst>
                <a:gd name="adj1" fmla="val 0"/>
                <a:gd name="adj2" fmla="val 50000"/>
              </a:avLst>
            </a:prstGeom>
            <a:noFill/>
            <a:ln w="28575">
              <a:solidFill>
                <a:srgbClr val="293DF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35" name="Овал 34">
              <a:extLst>
                <a:ext uri="{FF2B5EF4-FFF2-40B4-BE49-F238E27FC236}">
                  <a16:creationId xmlns:a16="http://schemas.microsoft.com/office/drawing/2014/main" id="{407E6762-F69C-4E1E-80EA-9F7759F60626}"/>
                </a:ext>
              </a:extLst>
            </p:cNvPr>
            <p:cNvSpPr/>
            <p:nvPr/>
          </p:nvSpPr>
          <p:spPr>
            <a:xfrm>
              <a:off x="9404916" y="1764685"/>
              <a:ext cx="239979" cy="239979"/>
            </a:xfrm>
            <a:prstGeom prst="ellipse">
              <a:avLst/>
            </a:prstGeom>
            <a:noFill/>
            <a:ln w="28575">
              <a:solidFill>
                <a:srgbClr val="FF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42" name="Прямоугольник 41">
              <a:extLst>
                <a:ext uri="{FF2B5EF4-FFF2-40B4-BE49-F238E27FC236}">
                  <a16:creationId xmlns:a16="http://schemas.microsoft.com/office/drawing/2014/main" id="{FFCCEAF9-B57A-4791-B4D8-88A22764EB62}"/>
                </a:ext>
              </a:extLst>
            </p:cNvPr>
            <p:cNvSpPr/>
            <p:nvPr/>
          </p:nvSpPr>
          <p:spPr>
            <a:xfrm>
              <a:off x="9724546" y="2079482"/>
              <a:ext cx="257654" cy="257654"/>
            </a:xfrm>
            <a:prstGeom prst="rect">
              <a:avLst/>
            </a:prstGeom>
            <a:noFill/>
            <a:ln w="28575">
              <a:solidFill>
                <a:srgbClr val="00FE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  <p:sp>
          <p:nvSpPr>
            <p:cNvPr id="43" name="Прямоугольник 42">
              <a:extLst>
                <a:ext uri="{FF2B5EF4-FFF2-40B4-BE49-F238E27FC236}">
                  <a16:creationId xmlns:a16="http://schemas.microsoft.com/office/drawing/2014/main" id="{3E7D705F-6ECA-4104-94D5-9F737A21D95F}"/>
                </a:ext>
              </a:extLst>
            </p:cNvPr>
            <p:cNvSpPr/>
            <p:nvPr/>
          </p:nvSpPr>
          <p:spPr>
            <a:xfrm>
              <a:off x="9724546" y="2411954"/>
              <a:ext cx="257654" cy="257654"/>
            </a:xfrm>
            <a:prstGeom prst="rect">
              <a:avLst/>
            </a:prstGeom>
            <a:noFill/>
            <a:ln w="28575">
              <a:solidFill>
                <a:srgbClr val="00FE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noFill/>
              </a:endParaRPr>
            </a:p>
          </p:txBody>
        </p:sp>
      </p:grpSp>
      <p:sp>
        <p:nvSpPr>
          <p:cNvPr id="44" name="Rounded Rectangle 43"/>
          <p:cNvSpPr/>
          <p:nvPr/>
        </p:nvSpPr>
        <p:spPr>
          <a:xfrm>
            <a:off x="822960" y="1188720"/>
            <a:ext cx="5120640" cy="4206240"/>
          </a:xfrm>
          <a:prstGeom prst="roundRect">
            <a:avLst>
              <a:gd name="adj" fmla="val 4000"/>
            </a:avLst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5840" y="1280160"/>
            <a:ext cx="484632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E5E7EB"/>
                </a:solidFill>
                <a:latin typeface="Courier New"/>
              </a:rPr>
              <a:t>push / pull request → test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5E7EB"/>
                </a:solidFill>
                <a:latin typeface="Courier New"/>
              </a:rPr>
              <a:t>  Python 3.9 + Django 4.2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5E7EB"/>
                </a:solidFill>
                <a:latin typeface="Courier New"/>
              </a:rPr>
              <a:t>  Python 3.12, 3.13 + Django 5.2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5E7EB"/>
                </a:solidFill>
                <a:latin typeface="Courier New"/>
              </a:rPr>
              <a:t>  1. manage.py check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5E7EB"/>
                </a:solidFill>
                <a:latin typeface="Courier New"/>
              </a:rPr>
              <a:t>  2. makemigrations --check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5E7EB"/>
                </a:solidFill>
                <a:latin typeface="Courier New"/>
              </a:rPr>
              <a:t>  3. coverage run manage.py test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5E7EB"/>
                </a:solidFill>
                <a:latin typeface="Courier New"/>
              </a:rPr>
              <a:t>  4. coverage report --fail-under=85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5E7EB"/>
                </a:solidFill>
                <a:latin typeface="Courier New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5E7EB"/>
                </a:solidFill>
                <a:latin typeface="Courier New"/>
              </a:rPr>
              <a:t>main + успешные тесты → release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5E7EB"/>
                </a:solidFill>
                <a:latin typeface="Courier New"/>
              </a:rPr>
              <a:t>  сборка архива → artifact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17920" y="1280160"/>
            <a:ext cx="320040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85750" indent="-285750">
              <a:spcAft>
                <a:spcPts val="10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Каждое изменение проверяется автоматически</a:t>
            </a:r>
          </a:p>
          <a:p>
            <a:pPr algn="l" marL="285750" indent="-285750">
              <a:spcAft>
                <a:spcPts val="10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Порог покрытия 85 % защищает от регресса</a:t>
            </a:r>
          </a:p>
          <a:p>
            <a:pPr algn="l" marL="285750" indent="-285750">
              <a:spcAft>
                <a:spcPts val="10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Актуальность миграций проверяется в CI</a:t>
            </a:r>
          </a:p>
          <a:p>
            <a:pPr algn="l" marL="285750" indent="-285750">
              <a:spcAft>
                <a:spcPts val="1000"/>
              </a:spcAft>
              <a:buClr>
                <a:srgbClr val="5B4BE8"/>
              </a:buClr>
              <a:buFont typeface="Arial"/>
              <a:buChar char="•"/>
            </a:pPr>
            <a:r>
              <a:rPr sz="1600" b="0">
                <a:solidFill>
                  <a:srgbClr val="111111"/>
                </a:solidFill>
              </a:rPr>
              <a:t>Релизный архив собирается на main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" name="TextBox 8">
            <a:extLst>
              <a:ext uri="{FF2B5EF4-FFF2-40B4-BE49-F238E27FC236}">
                <a16:creationId xmlns:a16="http://schemas.microsoft.com/office/drawing/2014/main" id="{C183BA78-B383-4846-99A4-40A7F9B77339}"/>
              </a:ext>
            </a:extLst>
          </p:cNvPr>
          <p:cNvSpPr txBox="1"/>
          <p:nvPr/>
        </p:nvSpPr>
        <p:spPr>
          <a:xfrm>
            <a:off x="1178029" y="249260"/>
            <a:ext cx="88024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KyivType Sans Heavy" panose="00000900000000000000" pitchFamily="50" charset="-52"/>
              </a:rPr>
              <a:t>РАСПИСАНИЕ НЕДЕЛИ И ГЛАВНАЯ СТРАНИЦА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FBA19B-59AD-4125-9DF3-AD4E63090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244" y="6329160"/>
            <a:ext cx="1182047" cy="180000"/>
          </a:xfrm>
          <a:prstGeom prst="rect">
            <a:avLst/>
          </a:prstGeom>
        </p:spPr>
      </p:pic>
      <p:grpSp>
        <p:nvGrpSpPr>
          <p:cNvPr id="2" name="Группа 23">
            <a:extLst>
              <a:ext uri="{FF2B5EF4-FFF2-40B4-BE49-F238E27FC236}">
                <a16:creationId xmlns:a16="http://schemas.microsoft.com/office/drawing/2014/main" id="{C8B95BEE-DFCF-40B1-B13A-160E43EF38B8}"/>
              </a:ext>
            </a:extLst>
          </p:cNvPr>
          <p:cNvGrpSpPr/>
          <p:nvPr/>
        </p:nvGrpSpPr>
        <p:grpSpPr>
          <a:xfrm>
            <a:off x="361708" y="351221"/>
            <a:ext cx="675372" cy="390258"/>
            <a:chOff x="2153286" y="1799378"/>
            <a:chExt cx="675372" cy="390258"/>
          </a:xfrm>
        </p:grpSpPr>
        <p:cxnSp>
          <p:nvCxnSpPr>
            <p:cNvPr id="27" name="Прямая соединительная линия 26">
              <a:extLst>
                <a:ext uri="{FF2B5EF4-FFF2-40B4-BE49-F238E27FC236}">
                  <a16:creationId xmlns:a16="http://schemas.microsoft.com/office/drawing/2014/main" id="{8DBFEE1B-FAD5-4785-9E3B-5329244047C0}"/>
                </a:ext>
              </a:extLst>
            </p:cNvPr>
            <p:cNvCxnSpPr/>
            <p:nvPr/>
          </p:nvCxnSpPr>
          <p:spPr>
            <a:xfrm>
              <a:off x="2153286" y="1993317"/>
              <a:ext cx="675372" cy="0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116ABA84-9B91-4724-A844-6CD10C6031B7}"/>
                </a:ext>
              </a:extLst>
            </p:cNvPr>
            <p:cNvCxnSpPr/>
            <p:nvPr/>
          </p:nvCxnSpPr>
          <p:spPr>
            <a:xfrm flipH="1" flipV="1">
              <a:off x="2627605" y="1799378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7BC4176F-C3AC-474A-8131-820DF2AA1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7605" y="1998050"/>
              <a:ext cx="191586" cy="191586"/>
            </a:xfrm>
            <a:prstGeom prst="line">
              <a:avLst/>
            </a:prstGeom>
            <a:ln w="28575">
              <a:solidFill>
                <a:srgbClr val="293DF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0" name="Picture 29" descr="time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51635"/>
            <a:ext cx="5394960" cy="3371850"/>
          </a:xfrm>
          <a:prstGeom prst="rect">
            <a:avLst/>
          </a:prstGeom>
        </p:spPr>
      </p:pic>
      <p:pic>
        <p:nvPicPr>
          <p:cNvPr id="31" name="Picture 30" descr="home_opera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588770"/>
            <a:ext cx="5486400" cy="3497579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40080" y="56235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</a:rPr>
              <a:t>Сетка занятий по дням недели с цветами секций; на главной — диаграммы заполненности групп и состава клиентов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Новый Шаблон презентаций_КМЭПТ.pot[Compatibility Mode]" id="{8761158C-B706-4B67-8AF6-F325C54A10D1}" vid="{087C47FC-ABA4-49F7-B1BF-F19EABEA7B31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КМЭПТ Шаблон презентаций</Template>
  <TotalTime>219</TotalTime>
  <Words>142</Words>
  <Application>Microsoft Office PowerPoint</Application>
  <PresentationFormat>Широкоэкранный</PresentationFormat>
  <Paragraphs>48</Paragraphs>
  <Slides>13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21" baseType="lpstr">
      <vt:lpstr>Wingdings</vt:lpstr>
      <vt:lpstr>Calibri Light</vt:lpstr>
      <vt:lpstr>Times New Roman</vt:lpstr>
      <vt:lpstr>Arial</vt:lpstr>
      <vt:lpstr>KyivType Sans Heavy</vt:lpstr>
      <vt:lpstr>Calibri</vt:lpstr>
      <vt:lpstr>KyivType Sans Medium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Дисциплина: название  дисциплины</dc:title>
  <dc:creator>Валерий Сарычев</dc:creator>
  <cp:lastModifiedBy>Артём Рядинский</cp:lastModifiedBy>
  <cp:revision>28</cp:revision>
  <dcterms:created xsi:type="dcterms:W3CDTF">2021-11-22T05:24:17Z</dcterms:created>
  <dcterms:modified xsi:type="dcterms:W3CDTF">2025-10-26T14:44:04Z</dcterms:modified>
</cp:coreProperties>
</file>