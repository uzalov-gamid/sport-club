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332" r:id="rId2"/>
    <p:sldId id="322" r:id="rId3"/>
    <p:sldId id="323" r:id="rId4"/>
    <p:sldId id="324" r:id="rId5"/>
    <p:sldId id="325" r:id="rId6"/>
    <p:sldId id="340" r:id="rId22"/>
    <p:sldId id="333" r:id="rId7"/>
    <p:sldId id="341" r:id="rId23"/>
    <p:sldId id="342" r:id="rId24"/>
    <p:sldId id="336" r:id="rId9"/>
    <p:sldId id="343" r:id="rId25"/>
    <p:sldId id="337" r:id="rId8"/>
    <p:sldId id="338" r:id="rId10"/>
    <p:sldId id="344" r:id="rId26"/>
    <p:sldId id="345" r:id="rId27"/>
    <p:sldId id="335" r:id="rId11"/>
    <p:sldId id="346" r:id="rId28"/>
    <p:sldId id="339" r:id="rId12"/>
    <p:sldId id="347" r:id="rId29"/>
    <p:sldId id="348" r:id="rId30"/>
    <p:sldId id="334" r:id="rId13"/>
    <p:sldId id="329" r:id="rId14"/>
  </p:sldIdLst>
  <p:sldSz cx="12192000" cy="6858000"/>
  <p:notesSz cx="6858000" cy="9144000"/>
  <p:embeddedFontLst>
    <p:embeddedFont>
      <p:font typeface="KyivType Sans Heavy" panose="00000900000000000000" pitchFamily="2" charset="-52"/>
      <p:bold r:id="rId16"/>
    </p:embeddedFont>
    <p:embeddedFont>
      <p:font typeface="KyivType Sans Medium" panose="00000600000000000000" pitchFamily="2" charset="-52"/>
      <p:regular r:id="rId1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89F8"/>
    <a:srgbClr val="00FE5D"/>
    <a:srgbClr val="293DF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68" autoAdjust="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87E6F76-8540-4E06-A304-0E0C8F168E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CBBD566-0E6A-4BEB-8A10-B1066FCE76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9B0FD15-85C4-44BE-BE72-96CFC45279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2408B4E9-9E08-416E-9DBB-31AA1F588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12FFFAF8-3365-4D9D-9A59-6574DCF009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CA1CF-1828-4AD4-96E7-B7E03FCB907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F5AA51-D13A-439C-AB3E-7C80C120E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289B5C42-149E-42C7-B6C0-EF2864EBCE8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курсового проекта — информационная система спортивного клуба: учёт клиентов, записей на занятия, расписания, посещаемости и стоимости. QR-код ведёт на репозиторий проекта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ручной учёт приводит к ошибкам. Решение: информационная система с правилами на уровне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Цель, объект и предмет по вариантам курсового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Стек совпадает с курсом: Django и SQLite. Для проверки используется unittest и coverage, для CI/CD —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пункты задания реализованы. Единственное отличие — первичные ключи генерирует автоинкремент SQLite вместо отдельного триггера.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защищают данные на уровне СУБД: скидка 3–10 %, даты абонемента, уникальность записи и посещения.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триггера: установка 60 минут, если длительность не указана, и запрет одиннадцатого участника в группе. Отменённая запись место не занимает.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приложения: интерфейс, представления с проверкой ролей, формы и сервисы, модели ORM и SQLite. Бизнес-логика вынесена в сервисы и не зависит от HTTP, поэтому легко тестируется.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роли. Администратор добавляет операторов на странице «Пользователи».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Макет выходного документа по заданию и его реализация. Документ формируется по выбранному залу.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 авторизации и главная страница администратора. У оператора в меню нет справочников и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Формы для всех восьми таблиц создаются универсальной фабрикой представлений.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Валидация: формат телефона, обязательные поля, ошибки ограничений БД показываются в форме.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запрос из задания. В демо-данных 8 клиентов, 6 групп, 3 секции.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запрос из задания и расчёт стоимости занятий клиента с учётом абонемента.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58 тестов на Python 3.9 с Django 4.2 и на Python 3.13 с Django 5.2: все проходят. Покрытие 97 %.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настроен в .github/workflows/ci.yml. Репозиторий: github.com/Uzalov-Gamid/sport-club.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разработки — серия небольших коммитов с понятными сообщениями.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 работы и направления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таблиц: клиент, секция, тренер, зал, группа, запись, абонемент, посещение. Группа связывает секцию, тренера и зал; запись — клиента и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5BA4B5-4E36-4F5D-BA9D-00CE4AA4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3A083F-CBCE-4151-84F1-F68EB80A3F7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2C02A4-EEBF-4722-BF1F-ABAF7CCB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FC1EDB-72C0-43BD-943F-23E81823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6A4103-BEB4-4CD4-873F-A6A7C4CB04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480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4C0DF1-3338-446E-891A-10BD25000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65B79-6690-4F8C-9B80-82DFE6F99E9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56D3D-F3BE-4DFD-A3EA-42D0B386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EBF8AF-6040-47C7-B885-7EDAA7C3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82FDD2-4DBF-43E2-97E4-DDC902C6D72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37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C21FEC4-A25B-445D-948F-64F20698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536BA-153D-4673-906B-42F6EE297799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5ED163-6313-457A-A89A-DBEE48A9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BAC972-044A-407F-8ACA-27CEB5D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C6AFFB-175A-4F6E-B729-E1E32C7482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11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D875D2EF-DB53-4BEE-947B-1DCABEC1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35939F-F447-4859-895B-7CD379D81A0B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A5C6D1EF-57F9-4184-8F38-0C34BA53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CA1E3F8-86B9-4381-AE9A-F9B96713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0080D9-3368-496F-B9B1-B7DC3160085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322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C98DB2A1-B860-499B-A9D3-327431A62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4D7486-02C4-46EE-9756-E897201AB6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8E3DFA7-2664-4CC1-9C5D-2AE8163C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CEBFFA1-0715-423D-B657-9E3D6D21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C5051-C1A1-4FF1-AD64-91773D064C7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30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AA9250C6-BC9F-4C7C-9A38-A846E317E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BE144-A518-46D4-A3D3-5B26AC5A70F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68FE42DD-6754-480C-9271-287D2118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D97A4645-6761-419A-807F-25396137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97AF17-04B7-470F-AAC4-389DD9D49AF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567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C397D5F4-E8F1-45F8-AEE4-B1F69EB95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483DF9-1B82-47D1-A315-3B91E281304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F0D3602C-FAB3-4557-8A8E-3D5F11D1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E018709-17AA-4064-92D4-706608EB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0F2884-6AB9-4798-936F-2B0A65303D6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895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0F8EF8B-33A0-4B98-874B-95BA7DD5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267B48-A092-46D9-8EA5-AFE73504FE0E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76B246B-12EE-41E4-AE7B-0EF0DDECD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82EAC51-7782-4E9D-988A-4B6DE1A2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C7780-06D1-427D-80C7-A604DBC6530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07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ED943F8A-D445-4D07-BEC0-305E24BB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691647-C8AD-48AE-BFC4-A28E9BB6F421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D4217D56-4004-43E4-87D8-F52DAD00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0BBB2E6-319E-4E6D-945D-F47E2C4C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EE76B5-54B0-4960-BDA8-9299F5A95D1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8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C4B4BD-2937-40F2-B8EB-06F97B1D6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0E7F8B-2442-4AFC-A6D3-B723CCE6BA7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ACDB5-A6E1-4178-8247-1D43AE1B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A877FF-3B5B-4135-8040-90117730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D227C-F957-4E6F-80E6-5E3F72CCC3A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0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C53387-AB1C-41DA-9D18-5EF04B82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41FCF1-25CD-4225-8B77-8FEDF4ABE325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5C35E-4888-4FC1-BEB9-D0F5F16E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64F7A-C3C0-4734-8A2D-6AE7006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698027-0C96-4F94-BDCD-8E7E2E6C071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276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39DAEE72-CEFD-4E80-A46F-3358C333B3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693E1B86-B81D-4544-AA6F-562C56D7C1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121151-B8A8-4EF2-AF50-3FE757BF5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323B16D-E927-4C77-B2E9-E87E4CA9289D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62D88E-BD9E-44F2-B408-F59F88C7D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C0FBD2-6663-42A2-B83F-D9E2D1B7E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EF9D80C-D0B1-4F1D-B1F9-F1B97B9980C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987378" y="283058"/>
            <a:ext cx="4991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788490" y="1219200"/>
            <a:ext cx="855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Курсовой проект по теме: </a:t>
            </a:r>
          </a:p>
          <a:p>
            <a:pPr algn="ctr"/>
            <a:r>
              <a:rPr lang="ru-RU" sz="24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«Разработка информационной системы учёта занятий и посещаемости спортивного клуба»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 rot="16200000">
            <a:off x="11028501" y="5726820"/>
            <a:ext cx="1123399" cy="609870"/>
            <a:chOff x="2134722" y="1799378"/>
            <a:chExt cx="687121" cy="373024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Арка 17">
            <a:extLst>
              <a:ext uri="{FF2B5EF4-FFF2-40B4-BE49-F238E27FC236}">
                <a16:creationId xmlns:a16="http://schemas.microsoft.com/office/drawing/2014/main" id="{C66A924E-91C5-4892-B9F5-558DACD8783D}"/>
              </a:ext>
            </a:extLst>
          </p:cNvPr>
          <p:cNvSpPr/>
          <p:nvPr/>
        </p:nvSpPr>
        <p:spPr>
          <a:xfrm>
            <a:off x="9833317" y="452465"/>
            <a:ext cx="1643458" cy="1643458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46E2630-7CEC-4BD1-BB07-175F7A1FB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6756" y="3666585"/>
            <a:ext cx="1435149" cy="1435149"/>
          </a:xfrm>
          <a:prstGeom prst="rect">
            <a:avLst/>
          </a:prstGeom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CF634F4-7F6A-4568-9ECD-62C48BFE21E1}"/>
              </a:ext>
            </a:extLst>
          </p:cNvPr>
          <p:cNvGrpSpPr/>
          <p:nvPr/>
        </p:nvGrpSpPr>
        <p:grpSpPr>
          <a:xfrm rot="2700000">
            <a:off x="252778" y="287612"/>
            <a:ext cx="871348" cy="473037"/>
            <a:chOff x="2134722" y="1799378"/>
            <a:chExt cx="687121" cy="373024"/>
          </a:xfrm>
        </p:grpSpPr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AB613FC0-F45E-4828-B3C2-9A8DC54A4179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99F2D6C2-C5C3-45C2-B111-A70CF2112180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3F8F4390-07DD-433F-8006-3083EAFAF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F1B21EB-ADF6-436A-8087-0C82CB036A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08" y="5101734"/>
            <a:ext cx="1491721" cy="1491721"/>
          </a:xfrm>
          <a:prstGeom prst="rect">
            <a:avLst/>
          </a:prstGeom>
        </p:spPr>
      </p:pic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2788490" y="2828836"/>
            <a:ext cx="7044827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студента очной формы обучения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специальности</a:t>
            </a:r>
            <a:r>
              <a:rPr lang="ru-RU" sz="1600" dirty="0">
                <a:solidFill>
                  <a:srgbClr val="FFFF00"/>
                </a:solidFill>
                <a:latin typeface="KyivType Sans Medium" panose="00000600000000000000" pitchFamily="50" charset="-52"/>
              </a:rPr>
              <a:t> 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09.02.07 Информационные системы и программирование,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квалификация программист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3 курса группы </a:t>
            </a:r>
            <a:r>
              <a:rPr lang="ru-RU" sz="1600" dirty="0">
                <a:solidFill>
                  <a:srgbClr val="FF0000"/>
                </a:solidFill>
                <a:latin typeface="KyivType Sans Medium" panose="00000600000000000000" pitchFamily="50" charset="-52"/>
              </a:rPr>
              <a:t>[номер группы]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0000"/>
                </a:solidFill>
                <a:latin typeface="KyivType Sans Medium" panose="00000600000000000000" pitchFamily="50" charset="-52"/>
              </a:rPr>
              <a:t>Узалова Гамида [отчество в родительном падеже]</a:t>
            </a:r>
          </a:p>
        </p:txBody>
      </p:sp>
      <p:sp>
        <p:nvSpPr>
          <p:cNvPr id="8195" name="Rectangle 3"/>
          <p:cNvSpPr>
            <a:spLocks noChangeArrowheads="1"/>
          </p:cNvSpPr>
          <p:nvPr/>
        </p:nvSpPr>
        <p:spPr bwMode="auto">
          <a:xfrm>
            <a:off x="1989667" y="5101734"/>
            <a:ext cx="576257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Руководитель курсового проекта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преподаватель: Нагапетян 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>Паргев</a:t>
            </a: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 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>Смбатович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683748" y="6199408"/>
            <a:ext cx="15985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Москва 2026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pic>
        <p:nvPicPr>
          <p:cNvPr id="8196" name="Picture 8195" descr="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271" y="1509712"/>
            <a:ext cx="1400176" cy="14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0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344274" y="351221"/>
            <a:ext cx="6785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Актуальность темы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9A500C0-0417-4B60-B4B3-048C31C64F05}"/>
              </a:ext>
            </a:extLst>
          </p:cNvPr>
          <p:cNvGrpSpPr/>
          <p:nvPr/>
        </p:nvGrpSpPr>
        <p:grpSpPr>
          <a:xfrm>
            <a:off x="9752845" y="1338568"/>
            <a:ext cx="1321030" cy="1418885"/>
            <a:chOff x="8545421" y="1418146"/>
            <a:chExt cx="1434651" cy="1540922"/>
          </a:xfrm>
          <a:gradFill>
            <a:gsLst>
              <a:gs pos="0">
                <a:srgbClr val="293DF4"/>
              </a:gs>
              <a:gs pos="100000">
                <a:srgbClr val="00FE5D"/>
              </a:gs>
            </a:gsLst>
            <a:lin ang="0" scaled="0"/>
          </a:gradFill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F9A5CD6-765E-48F3-9ACA-8E642A13ADA7}"/>
                </a:ext>
              </a:extLst>
            </p:cNvPr>
            <p:cNvSpPr/>
            <p:nvPr/>
          </p:nvSpPr>
          <p:spPr>
            <a:xfrm>
              <a:off x="9209611" y="1418146"/>
              <a:ext cx="770461" cy="7704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Хорда 7">
              <a:extLst>
                <a:ext uri="{FF2B5EF4-FFF2-40B4-BE49-F238E27FC236}">
                  <a16:creationId xmlns:a16="http://schemas.microsoft.com/office/drawing/2014/main" id="{40FE03EF-F754-42FE-925A-9D884273C890}"/>
                </a:ext>
              </a:extLst>
            </p:cNvPr>
            <p:cNvSpPr/>
            <p:nvPr/>
          </p:nvSpPr>
          <p:spPr>
            <a:xfrm rot="10800000">
              <a:off x="9209611" y="2188607"/>
              <a:ext cx="770461" cy="770461"/>
            </a:xfrm>
            <a:prstGeom prst="chord">
              <a:avLst>
                <a:gd name="adj1" fmla="val 7775"/>
                <a:gd name="adj2" fmla="val 1080863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BE5045CC-0FF1-4214-BD99-445DEEE5945E}"/>
                </a:ext>
              </a:extLst>
            </p:cNvPr>
            <p:cNvSpPr/>
            <p:nvPr/>
          </p:nvSpPr>
          <p:spPr>
            <a:xfrm rot="5400000">
              <a:off x="8492286" y="1471281"/>
              <a:ext cx="770460" cy="66419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1440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Спортивные клубы ведут клиентов, записи и расписание вручную или в разрозненных таблицах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Следствия: переполненные группы, потерянные записи, ошибки в расчёте скидок и стоимости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Нужна система, где правила клуба (до 10 человек в группе, скидка 3–10 %, 60 минут по умолчанию) защищены самой базой данных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Автоматизация освобождает администратора от рутины и даёт аналитику: загрузка групп, состав клиентов, расписание залов</a:t>
            </a:r>
          </a:p>
        </p:txBody>
      </p:sp>
    </p:spTree>
    <p:extLst>
      <p:ext uri="{BB962C8B-B14F-4D97-AF65-F5344CB8AC3E}">
        <p14:creationId xmlns:p14="http://schemas.microsoft.com/office/powerpoint/2010/main" val="3119917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1390896-A66F-4258-BB8E-359AE31F35A6}"/>
              </a:ext>
            </a:extLst>
          </p:cNvPr>
          <p:cNvGrpSpPr/>
          <p:nvPr/>
        </p:nvGrpSpPr>
        <p:grpSpPr>
          <a:xfrm rot="5400000">
            <a:off x="9738856" y="1372887"/>
            <a:ext cx="1703995" cy="1635360"/>
            <a:chOff x="6299997" y="2533474"/>
            <a:chExt cx="1485983" cy="1426130"/>
          </a:xfrm>
          <a:gradFill>
            <a:gsLst>
              <a:gs pos="100000">
                <a:srgbClr val="FF00FF"/>
              </a:gs>
              <a:gs pos="0">
                <a:srgbClr val="9789F8"/>
              </a:gs>
            </a:gsLst>
            <a:lin ang="0" scaled="0"/>
          </a:gradFill>
        </p:grpSpPr>
        <p:sp>
          <p:nvSpPr>
            <p:cNvPr id="3" name="Параллелограмм 2">
              <a:extLst>
                <a:ext uri="{FF2B5EF4-FFF2-40B4-BE49-F238E27FC236}">
                  <a16:creationId xmlns:a16="http://schemas.microsoft.com/office/drawing/2014/main" id="{065C87DA-1871-4FB5-AA8D-EB78ACE616A2}"/>
                </a:ext>
              </a:extLst>
            </p:cNvPr>
            <p:cNvSpPr/>
            <p:nvPr/>
          </p:nvSpPr>
          <p:spPr>
            <a:xfrm>
              <a:off x="6299997" y="3389152"/>
              <a:ext cx="894959" cy="570452"/>
            </a:xfrm>
            <a:prstGeom prst="parallelogram">
              <a:avLst>
                <a:gd name="adj" fmla="val 6519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Арка 4">
              <a:extLst>
                <a:ext uri="{FF2B5EF4-FFF2-40B4-BE49-F238E27FC236}">
                  <a16:creationId xmlns:a16="http://schemas.microsoft.com/office/drawing/2014/main" id="{770BB3DC-40E4-49A0-AD2D-495FC6E2B309}"/>
                </a:ext>
              </a:extLst>
            </p:cNvPr>
            <p:cNvSpPr/>
            <p:nvPr/>
          </p:nvSpPr>
          <p:spPr>
            <a:xfrm rot="10800000">
              <a:off x="6645478" y="2818700"/>
              <a:ext cx="570452" cy="570452"/>
            </a:xfrm>
            <a:prstGeom prst="blockArc">
              <a:avLst>
                <a:gd name="adj1" fmla="val 10800000"/>
                <a:gd name="adj2" fmla="val 298094"/>
                <a:gd name="adj3" fmla="val 2336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6" name="Арка 15">
              <a:extLst>
                <a:ext uri="{FF2B5EF4-FFF2-40B4-BE49-F238E27FC236}">
                  <a16:creationId xmlns:a16="http://schemas.microsoft.com/office/drawing/2014/main" id="{BA08C47D-6244-485E-9E12-2D16C6CD8BF7}"/>
                </a:ext>
              </a:extLst>
            </p:cNvPr>
            <p:cNvSpPr/>
            <p:nvPr/>
          </p:nvSpPr>
          <p:spPr>
            <a:xfrm rot="10800000">
              <a:off x="6645478" y="2533474"/>
              <a:ext cx="570452" cy="570452"/>
            </a:xfrm>
            <a:prstGeom prst="blockArc">
              <a:avLst>
                <a:gd name="adj1" fmla="val 10800000"/>
                <a:gd name="adj2" fmla="val 21450672"/>
                <a:gd name="adj3" fmla="val 234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6" name="Прямоугольный треугольник 5">
              <a:extLst>
                <a:ext uri="{FF2B5EF4-FFF2-40B4-BE49-F238E27FC236}">
                  <a16:creationId xmlns:a16="http://schemas.microsoft.com/office/drawing/2014/main" id="{9A499426-3D65-43F9-94D4-AEDF37824E28}"/>
                </a:ext>
              </a:extLst>
            </p:cNvPr>
            <p:cNvSpPr/>
            <p:nvPr/>
          </p:nvSpPr>
          <p:spPr>
            <a:xfrm>
              <a:off x="7215528" y="2818700"/>
              <a:ext cx="570452" cy="570452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84577" y="1569401"/>
            <a:ext cx="112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KyivType Sans Medium" panose="00000600000000000000" pitchFamily="50" charset="-52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066925" y="281197"/>
            <a:ext cx="8278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Цель, объект и предмет курсовой работы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9560" y="2479131"/>
            <a:ext cx="1516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Объект: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4752" y="3486150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Предмет: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1572768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Разработать информационную систему учёта занятий и посещаемости спортивного клуба: БД с триггерами и приложение с ролями, запросами и выходным документом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47802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Процесс обслуживания клиентов спортивного клуба: запись на занятия, расписание, посещаемость, расчёт стоимости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8386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Программный модуль учёта занятий и посещаемости (Python, Django, SQLite) и его 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70600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105150" y="281197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Задачи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9" y="1539277"/>
            <a:ext cx="7680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Проанализировать предметную область и требования варианта 10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Спроектировать БД: отношения, ограничения, связи, ссылочную целостность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триггеры: длительность 60 минут по умолчанию, не более 10 человек в группе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авторизацию, роли «администратор» и «оператор», формы добавления, просмотра и редактирования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запросы по заданию и выходной документ «Расписание зала»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Покрыть тестами, настроить CI/CD, оформить отчёт и презентацию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663769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506324" y="218259"/>
            <a:ext cx="5876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Среда и средства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3834EEE-C11F-480F-A943-DF51ED28DA0A}"/>
              </a:ext>
            </a:extLst>
          </p:cNvPr>
          <p:cNvSpPr txBox="1"/>
          <p:nvPr/>
        </p:nvSpPr>
        <p:spPr>
          <a:xfrm>
            <a:off x="5486400" y="1280160"/>
            <a:ext cx="2239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KyivType Sans Medium" panose="00000600000000000000" pitchFamily="50" charset="-52"/>
              </a:rPr>
              <a:t>Преимущества</a:t>
            </a: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pic>
        <p:nvPicPr>
          <p:cNvPr id="49" name="Picture 48" descr="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589" y="1338568"/>
            <a:ext cx="3673070" cy="422403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86400" y="182880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Python + Django: ORM, миграции, авторизация, группы и права, защита от CSRF/XSS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SQLite: триггеры, CHECK и UNIQUE без отдельного сервера БД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unittest + coverage: 58 тестов, 97 %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GitHub Actions: проверка и сборка при каждом push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Совместимость: Python 3.9+, Django 4.2 / 5.2</a:t>
            </a:r>
          </a:p>
        </p:txBody>
      </p:sp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РАЗРАБОТКА СТРУКТУРЫ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69" y="914400"/>
            <a:ext cx="750498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3878F-D519-59B8-2EB4-9375D95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6DD4C3-77EB-9D07-8900-5CFF897C40F8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ПРОЕКТИРОВАНИЕ ШАБЛОНА ВЫХОДНОГО ДОКУМЕНТА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55524B2-C845-21FF-1118-8A462881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8D02CEC-E17E-E5F3-36F0-0043C8B68D64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9EA4CC41-B2C5-0FD3-1C84-6168C2F34C4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A29E1C1A-E59B-693F-9C60-06DA64E0EDD8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F47A8CF0-CADF-F6E0-DC6E-D51320583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80160"/>
            <a:ext cx="4114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5B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137160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Зал №___          Дата распечатки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Понедельник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Вторник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…</a:t>
            </a:r>
          </a:p>
        </p:txBody>
      </p:sp>
      <p:pic>
        <p:nvPicPr>
          <p:cNvPr id="32" name="Picture 31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341596"/>
            <a:ext cx="6400800" cy="390048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Слева — макет по заданию, справа — готовый документ: зал выбирается из списка, окончание занятия = начало + длительность, есть печать</a:t>
            </a:r>
          </a:p>
        </p:txBody>
      </p:sp>
    </p:spTree>
    <p:extLst>
      <p:ext uri="{BB962C8B-B14F-4D97-AF65-F5344CB8AC3E}">
        <p14:creationId xmlns:p14="http://schemas.microsoft.com/office/powerpoint/2010/main" val="388600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24C3C-4968-8E1E-092D-310ECEF5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F24BEB-1095-C7E6-2BD1-7DBB264E11CC}"/>
              </a:ext>
            </a:extLst>
          </p:cNvPr>
          <p:cNvSpPr txBox="1"/>
          <p:nvPr/>
        </p:nvSpPr>
        <p:spPr>
          <a:xfrm>
            <a:off x="1993903" y="218259"/>
            <a:ext cx="879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Структурная схема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C115943-F61A-08E5-0EA8-D9DD091E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321B6F5-00E8-4036-68A3-6FC42B34A05F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050D700F-624B-EC0B-F42C-AD4D63C6A55A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E146678-F559-99B6-4F52-6DE0189D2A00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0E2273F-7144-48AC-48AF-CC5B7F510A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EA9BD997-FDBB-EB9D-D06A-378DB877A924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81A4F7EB-F15F-DC2F-3465-29790581D261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FD5D2164-1B16-627E-A54F-FE49E69B64E5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C8F16764-08F7-F45E-45EE-B7AFEBD14F33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B1AA6DDC-7217-6F3B-9A51-272DA532E15C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1188720" y="114300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117957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Браузер: HTML-шаблоны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15270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боковое меню по ролям, формы, печать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4892040" y="1892807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88720" y="214884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218541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Маршрутизация и представления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25328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права доступа (оператор / администратор), разбор запросов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4892040" y="289864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88720" y="315468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319125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Формы и сервисы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35387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валидация ввода; запросы, расчёт стоимости, расписание зала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4892040" y="390448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88720" y="416052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419709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Модели и миграции (ORM)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45445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8 таблиц, ограничения, триггеры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4892040" y="491032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88720" y="516636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5B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520293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55040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</a:rPr>
              <a:t>триггеры, CHECK, UNIQUE, внешние ключи</a:t>
            </a:r>
          </a:p>
        </p:txBody>
      </p:sp>
    </p:spTree>
    <p:extLst>
      <p:ext uri="{BB962C8B-B14F-4D97-AF65-F5344CB8AC3E}">
        <p14:creationId xmlns:p14="http://schemas.microsoft.com/office/powerpoint/2010/main" val="3477391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EB730-A3CE-3514-A3EF-74D67002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C1A0B4-69F9-8332-2D32-7127DF797089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ВХОД И ГЛАВНАЯ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89275C6-E42A-39B1-C7AB-8287AC7FF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DAE8B765-03B9-2991-22A8-572E1992FA31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45A80673-1C19-53A1-7168-67A07E85D34D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26FA3CD4-F135-91C8-3B55-CF4DF1DA5A51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CE92105F-E030-23AB-5758-420CF06CA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9503"/>
            <a:ext cx="5394960" cy="3287553"/>
          </a:xfrm>
          <a:prstGeom prst="rect">
            <a:avLst/>
          </a:prstGeom>
        </p:spPr>
      </p:pic>
      <p:pic>
        <p:nvPicPr>
          <p:cNvPr id="31" name="Picture 30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71164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Авторизация по логину и паролю; главная со статистикой, меню зависит от роли</a:t>
            </a:r>
          </a:p>
        </p:txBody>
      </p:sp>
    </p:spTree>
    <p:extLst>
      <p:ext uri="{BB962C8B-B14F-4D97-AF65-F5344CB8AC3E}">
        <p14:creationId xmlns:p14="http://schemas.microsoft.com/office/powerpoint/2010/main" val="276755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731520" y="5922731"/>
            <a:ext cx="4854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75000"/>
                  </a:schemeClr>
                </a:solidFill>
                <a:latin typeface="KyivType Sans Heavy" panose="00000900000000000000" pitchFamily="50" charset="-52"/>
              </a:rPr>
              <a:t>Наполняемость групп: демонстрационные данные клуба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0C341B-75F2-49EE-BD11-678553F1BE0D}"/>
              </a:ext>
            </a:extLst>
          </p:cNvPr>
          <p:cNvSpPr txBox="1"/>
          <p:nvPr/>
        </p:nvSpPr>
        <p:spPr>
          <a:xfrm>
            <a:off x="7772400" y="1463040"/>
            <a:ext cx="384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KyivType Sans Medium" panose="00000600000000000000" pitchFamily="50" charset="-52"/>
              </a:rPr>
              <a:t>Список групп с количеством клиентов на сегодня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41F87-943B-04D4-DB96-760FEE005DE7}"/>
              </a:ext>
            </a:extLst>
          </p:cNvPr>
          <p:cNvSpPr txBox="1"/>
          <p:nvPr/>
        </p:nvSpPr>
        <p:spPr>
          <a:xfrm>
            <a:off x="1161331" y="246888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1: ГРУППЫ И ЧИСЛО КЛИЕНТОВ</a:t>
            </a:r>
          </a:p>
        </p:txBody>
      </p:sp>
      <p:pic>
        <p:nvPicPr>
          <p:cNvPr id="30" name="Picture 29" descr="q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1593"/>
            <a:ext cx="6766560" cy="41233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2377440"/>
            <a:ext cx="3840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Считаются только занимающиеся клиенты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Один SQL-запрос с агрегацией Count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Показано заполнение «N / 10»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3A8C7-B9E6-F8F3-CE14-4696A3AB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748970B-C7FF-3153-4A48-716ED66DA56B}"/>
              </a:ext>
            </a:extLst>
          </p:cNvPr>
          <p:cNvSpPr txBox="1"/>
          <p:nvPr/>
        </p:nvSpPr>
        <p:spPr>
          <a:xfrm>
            <a:off x="1178029" y="249260"/>
            <a:ext cx="11479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ТЕСТИРОВАНИЕ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B2C543A-A947-50E7-D4E3-8CEB0B1A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B2DE254A-7007-5225-15D5-5652BD0945B2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670D6464-8620-E57C-51CA-E5FF6A9B9604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F7DD3777-A335-32AD-3E02-3B5092FF0916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ED2BA8E7-8F77-FD97-A0AC-B222BD1333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автоматических тестов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97 %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покрытие кода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слоя проверки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10896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Триггеры проверены на реальной БД: 10-й и 11-й участник, отменённая запись, повторная активация, длительность по умолчанию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Ограничения: скидка 3–10 %, даты абонемента, уникальные запись и посещение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Сервисы: запросы по группам и полу, стоимость со скидкой, истёкший абонемент, расписание зала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Веб-слой: права ролей и 403, добавление оператора, CRUD, ошибки форм, страницы запросов и отчёт</a:t>
            </a:r>
          </a:p>
        </p:txBody>
      </p:sp>
    </p:spTree>
    <p:extLst>
      <p:ext uri="{BB962C8B-B14F-4D97-AF65-F5344CB8AC3E}">
        <p14:creationId xmlns:p14="http://schemas.microsoft.com/office/powerpoint/2010/main" val="2558959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4477874" y="351221"/>
            <a:ext cx="2653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Заключение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46">
            <a:extLst>
              <a:ext uri="{FF2B5EF4-FFF2-40B4-BE49-F238E27FC236}">
                <a16:creationId xmlns:a16="http://schemas.microsoft.com/office/drawing/2014/main" id="{027B4F71-7EE3-4380-8703-3D4D953AD394}"/>
              </a:ext>
            </a:extLst>
          </p:cNvPr>
          <p:cNvGrpSpPr/>
          <p:nvPr/>
        </p:nvGrpSpPr>
        <p:grpSpPr>
          <a:xfrm rot="5400000">
            <a:off x="9422663" y="1661436"/>
            <a:ext cx="2010748" cy="1310632"/>
            <a:chOff x="8931002" y="1384565"/>
            <a:chExt cx="1912392" cy="1246521"/>
          </a:xfrm>
        </p:grpSpPr>
        <p:grpSp>
          <p:nvGrpSpPr>
            <p:cNvPr id="5" name="Группа 35">
              <a:extLst>
                <a:ext uri="{FF2B5EF4-FFF2-40B4-BE49-F238E27FC236}">
                  <a16:creationId xmlns:a16="http://schemas.microsoft.com/office/drawing/2014/main" id="{F42CD6CD-F5AB-4957-89A1-D0940E5EC675}"/>
                </a:ext>
              </a:extLst>
            </p:cNvPr>
            <p:cNvGrpSpPr/>
            <p:nvPr/>
          </p:nvGrpSpPr>
          <p:grpSpPr>
            <a:xfrm>
              <a:off x="8931002" y="1384565"/>
              <a:ext cx="1155199" cy="661168"/>
              <a:chOff x="8315325" y="942975"/>
              <a:chExt cx="1854994" cy="1061689"/>
            </a:xfrm>
          </p:grpSpPr>
          <p:sp>
            <p:nvSpPr>
              <p:cNvPr id="4" name="Овал 3">
                <a:extLst>
                  <a:ext uri="{FF2B5EF4-FFF2-40B4-BE49-F238E27FC236}">
                    <a16:creationId xmlns:a16="http://schemas.microsoft.com/office/drawing/2014/main" id="{CF667990-4171-4D70-B79E-AB47463E534F}"/>
                  </a:ext>
                </a:extLst>
              </p:cNvPr>
              <p:cNvSpPr/>
              <p:nvPr/>
            </p:nvSpPr>
            <p:spPr>
              <a:xfrm>
                <a:off x="8315325" y="942975"/>
                <a:ext cx="1061689" cy="1061689"/>
              </a:xfrm>
              <a:prstGeom prst="ellipse">
                <a:avLst/>
              </a:prstGeom>
              <a:noFill/>
              <a:ln w="28575">
                <a:solidFill>
                  <a:srgbClr val="293DF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D29973BE-7B23-41F4-AEE8-196ED25EEDE6}"/>
                  </a:ext>
                </a:extLst>
              </p:cNvPr>
              <p:cNvCxnSpPr/>
              <p:nvPr/>
            </p:nvCxnSpPr>
            <p:spPr>
              <a:xfrm>
                <a:off x="8846170" y="942975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3C791FAD-1672-438D-9082-3D5EC36DE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367651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F69EAF31-E737-4372-B997-BBF860FEB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579989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50865A49-47F2-4FA1-9694-FFE38C01CF0F}"/>
                  </a:ext>
                </a:extLst>
              </p:cNvPr>
              <p:cNvCxnSpPr/>
              <p:nvPr/>
            </p:nvCxnSpPr>
            <p:spPr>
              <a:xfrm>
                <a:off x="8846170" y="2004664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C6B05C9-CE2F-446F-8543-45D6272030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792327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D2BE0EA-DF7F-45D7-B441-C5553F14B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155313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890EA3EC-6524-47BC-B35A-B23B2FAA7690}"/>
                </a:ext>
              </a:extLst>
            </p:cNvPr>
            <p:cNvSpPr/>
            <p:nvPr/>
          </p:nvSpPr>
          <p:spPr>
            <a:xfrm>
              <a:off x="10182226" y="1384565"/>
              <a:ext cx="661168" cy="661168"/>
            </a:xfrm>
            <a:prstGeom prst="rect">
              <a:avLst/>
            </a:prstGeom>
            <a:gradFill>
              <a:gsLst>
                <a:gs pos="100000">
                  <a:srgbClr val="FF00FF"/>
                </a:gs>
                <a:gs pos="0">
                  <a:srgbClr val="9789F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" name="Группа 37">
              <a:extLst>
                <a:ext uri="{FF2B5EF4-FFF2-40B4-BE49-F238E27FC236}">
                  <a16:creationId xmlns:a16="http://schemas.microsoft.com/office/drawing/2014/main" id="{9FFE9409-1E4E-4FDC-93A2-EEED5529FDF4}"/>
                </a:ext>
              </a:extLst>
            </p:cNvPr>
            <p:cNvGrpSpPr/>
            <p:nvPr/>
          </p:nvGrpSpPr>
          <p:grpSpPr>
            <a:xfrm rot="13500000">
              <a:off x="10050525" y="2232148"/>
              <a:ext cx="563489" cy="234387"/>
              <a:chOff x="2332258" y="1820834"/>
              <a:chExt cx="563489" cy="234387"/>
            </a:xfrm>
          </p:grpSpPr>
          <p:cxnSp>
            <p:nvCxnSpPr>
              <p:cNvPr id="39" name="Прямая соединительная линия 38">
                <a:extLst>
                  <a:ext uri="{FF2B5EF4-FFF2-40B4-BE49-F238E27FC236}">
                    <a16:creationId xmlns:a16="http://schemas.microsoft.com/office/drawing/2014/main" id="{AC71A8E9-4646-4413-BEAF-0654039A58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2580459" y="1745118"/>
                <a:ext cx="0" cy="496401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Прямая соединительная линия 39">
                <a:extLst>
                  <a:ext uri="{FF2B5EF4-FFF2-40B4-BE49-F238E27FC236}">
                    <a16:creationId xmlns:a16="http://schemas.microsoft.com/office/drawing/2014/main" id="{36D663C8-B94D-4891-AF46-F1BAB136F2CC}"/>
                  </a:ext>
                </a:extLst>
              </p:cNvPr>
              <p:cNvCxnSpPr/>
              <p:nvPr/>
            </p:nvCxnSpPr>
            <p:spPr>
              <a:xfrm flipH="1" flipV="1">
                <a:off x="2632389" y="1820834"/>
                <a:ext cx="191586" cy="191586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Прямая соединительная линия 40">
                <a:extLst>
                  <a:ext uri="{FF2B5EF4-FFF2-40B4-BE49-F238E27FC236}">
                    <a16:creationId xmlns:a16="http://schemas.microsoft.com/office/drawing/2014/main" id="{017DFEB3-6511-4334-96AC-D0980FE7CBE2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>
                <a:off x="2590433" y="2055221"/>
                <a:ext cx="305314" cy="0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8" y="1151131"/>
            <a:ext cx="75895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</a:pPr>
            <a:r>
              <a:rPr lang="ru-RU" sz="1800" dirty="0">
                <a:latin typeface="KyivType Sans Medium" panose="00000600000000000000" pitchFamily="50" charset="-52"/>
              </a:rPr>
              <a:t>Выводы по теме исследования:</a:t>
            </a:r>
          </a:p>
          <a:p>
            <a:pPr marL="342900" indent="-342900">
              <a:buClr>
                <a:srgbClr val="9789F8"/>
              </a:buClr>
            </a:pPr>
            <a:r>
              <a:rPr sz="1800"/>
              <a:t/>
            </a:r>
            <a:endParaRPr lang="ru-RU" sz="2000" dirty="0">
              <a:latin typeface="KyivType Sans Medium" panose="00000600000000000000" pitchFamily="50" charset="-52"/>
            </a:endParaRP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Выполнены все пункты варианта 10: БД, триггеры, авторизация, роли, формы, 2 запроса, выходной документ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Правила клуба (лимит 10, 60 минут, скидка 3–10 %) защищены на уровне БД и проверены 58 тестами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Отличие от задания: ключи — автоинкремент SQLite вместо триггера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Развитие: журнал действий, уведомления, отчёты по выручке, PostgreSQL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511799" y="348840"/>
            <a:ext cx="51684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04F510-6F90-4AD0-BA32-568B3B01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388369" y="2605612"/>
            <a:ext cx="6203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СПАСИБО ЗА ВНИМАНИЕ!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Арка 1">
            <a:extLst>
              <a:ext uri="{FF2B5EF4-FFF2-40B4-BE49-F238E27FC236}">
                <a16:creationId xmlns:a16="http://schemas.microsoft.com/office/drawing/2014/main" id="{D904D32A-5138-4D30-9D0B-CA4F45E227F4}"/>
              </a:ext>
            </a:extLst>
          </p:cNvPr>
          <p:cNvSpPr/>
          <p:nvPr/>
        </p:nvSpPr>
        <p:spPr>
          <a:xfrm>
            <a:off x="361708" y="6049579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Арка 15">
            <a:extLst>
              <a:ext uri="{FF2B5EF4-FFF2-40B4-BE49-F238E27FC236}">
                <a16:creationId xmlns:a16="http://schemas.microsoft.com/office/drawing/2014/main" id="{0767E0BB-C250-4D75-939E-BE2453C11737}"/>
              </a:ext>
            </a:extLst>
          </p:cNvPr>
          <p:cNvSpPr/>
          <p:nvPr/>
        </p:nvSpPr>
        <p:spPr>
          <a:xfrm>
            <a:off x="361708" y="5590025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0142CD-7921-4051-BE24-D7A2B9E5C2C0}"/>
              </a:ext>
            </a:extLst>
          </p:cNvPr>
          <p:cNvGrpSpPr/>
          <p:nvPr/>
        </p:nvGrpSpPr>
        <p:grpSpPr>
          <a:xfrm>
            <a:off x="10898782" y="351221"/>
            <a:ext cx="931509" cy="552590"/>
            <a:chOff x="9586559" y="741479"/>
            <a:chExt cx="2247900" cy="1333500"/>
          </a:xfrm>
          <a:gradFill>
            <a:gsLst>
              <a:gs pos="100000">
                <a:srgbClr val="FF00FF"/>
              </a:gs>
              <a:gs pos="0">
                <a:srgbClr val="293DF4"/>
              </a:gs>
            </a:gsLst>
            <a:lin ang="0" scaled="0"/>
          </a:gradFill>
        </p:grpSpPr>
        <p:sp>
          <p:nvSpPr>
            <p:cNvPr id="3" name="Прямоугольник: скругленные противолежащие углы 2">
              <a:extLst>
                <a:ext uri="{FF2B5EF4-FFF2-40B4-BE49-F238E27FC236}">
                  <a16:creationId xmlns:a16="http://schemas.microsoft.com/office/drawing/2014/main" id="{B1A1B749-C92B-46E5-A15F-DF1ED2D0F2A1}"/>
                </a:ext>
              </a:extLst>
            </p:cNvPr>
            <p:cNvSpPr/>
            <p:nvPr/>
          </p:nvSpPr>
          <p:spPr>
            <a:xfrm>
              <a:off x="9586559" y="74147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: скругленные противолежащие углы 17">
              <a:extLst>
                <a:ext uri="{FF2B5EF4-FFF2-40B4-BE49-F238E27FC236}">
                  <a16:creationId xmlns:a16="http://schemas.microsoft.com/office/drawing/2014/main" id="{3E0A7507-8384-4500-8746-08A0BAC227D0}"/>
                </a:ext>
              </a:extLst>
            </p:cNvPr>
            <p:cNvSpPr/>
            <p:nvPr/>
          </p:nvSpPr>
          <p:spPr>
            <a:xfrm>
              <a:off x="9586559" y="140822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Часть круга 4">
              <a:extLst>
                <a:ext uri="{FF2B5EF4-FFF2-40B4-BE49-F238E27FC236}">
                  <a16:creationId xmlns:a16="http://schemas.microsoft.com/office/drawing/2014/main" id="{817538E6-F977-47BA-BFAC-380BC70882B1}"/>
                </a:ext>
              </a:extLst>
            </p:cNvPr>
            <p:cNvSpPr/>
            <p:nvPr/>
          </p:nvSpPr>
          <p:spPr>
            <a:xfrm>
              <a:off x="10500959" y="741479"/>
              <a:ext cx="1333500" cy="1333500"/>
            </a:xfrm>
            <a:prstGeom prst="pi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81825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ТРЕБОВАНИЯ ВАРИАНТА 10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188720"/>
          <a:ext cx="8503920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Требование задания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БД, ограничения, ссылочная целостность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8 таблиц, FK, CHECK, UNIQUE,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Триггер: длительность по умолчанию 60 мин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AFTER INSERT / UPDATE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Не более 10 человек в группе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BEFORE INSERT / UPDATE + форма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Авторизация, логины в таблице БД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форма входа, таблица auth_user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Роли: администратор, оператор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Django, ответ 403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Формы добавления / просмотра / правки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CRUD для 8 таблиц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Два запроса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и клиенты; М/Ж по видам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Выходной документ «Зал №…»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расписание по дням недели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ТАБЛИЦЫ И ОГРАНИЧЕНИЯ БД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103120"/>
                <a:gridCol w="4023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Ограничения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Client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клиент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phone по шаблону, gender M/F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Section, Trainer, Hall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справочники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name и number уникальны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Group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группа занятий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weekday 0–6, price ≥ 0, FK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Enrollment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запись клиента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UNIQUE(client, group), лимит 10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Subscription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абонемент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CHECK скидка 3..10, end ≥ start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Visit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посещение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UNIQUE(запись, дата)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5303520"/>
            <a:ext cx="8503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Секцию, тренера и зал с группами удалить нельзя (PROTECT); при удалении клиента его записи, абонементы и посещения удаляются каскадом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ТРИГГЕРЫ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8595360" cy="365760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умолчанию: 60 минут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 WHERE id = NEW.id; END;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 WHEN NEW.status IN ('booked','active')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WHERE group_id=NEW.group_id AND status IN ('booked','active')) &gt;= 10; END;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02920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Триггеры создаются миграцией вместе со схемой; те же правила проверяет форма (понятная ошибка)</a:t>
            </a:r>
          </a:p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Ключи генерирует AUTOINCREMENT SQLite вместо отдельного триггера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РОЛИ И ПРАВА ДОСТУПА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12080"/>
                <a:gridCol w="1371600"/>
                <a:gridCol w="19202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Возможность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Оператор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Администратор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Клиенты, записи, посещения, абонементы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Запросы, расчёт стоимости, печать расписания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Справочники: секции, тренеры, залы, группы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Добавление новых операторов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475488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Роль определяется группой Django; доступ проверяется на сервере, иначе ответ 403</a:t>
            </a:r>
          </a:p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Логины и пароли хранятся в таблице БД, пароли — только хешами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ФОРМЫ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enroll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Просмотр, добавление, редактирование и удаление; статусы записей — цветные бейджи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ДОБАВЛЕНИЕ И СПРАВОЧНИКИ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Валидация на сервере; справочники групп, секций, тренеров и залов доступны только администратору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2 И РАСЧЁТ СТОИМОСТИ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6623"/>
            <a:ext cx="5394960" cy="3287553"/>
          </a:xfrm>
          <a:prstGeom prst="rect">
            <a:avLst/>
          </a:prstGeom>
        </p:spPr>
      </p:pic>
      <p:pic>
        <p:nvPicPr>
          <p:cNvPr id="31" name="Picture 30" descr="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2876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34924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Вид занятий — клиентов-мужчин — клиентов-женщин; клиент в нескольких группах секции считается один раз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492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Стоимость = цена × (100 − скидка) / 100; скидка по абонементу, пропуски не оплачиваются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НЕПРЕРЫВНАЯ ИНТЕГРАЦИЯ: GITHUB ACTIONS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push / pull request →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3.9 + Django 4.2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3.12, 3.13 + Django 5.2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1. manage.py 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2. makemigrations --check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3. coverage run manage.py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4. coverage report --fail-under=85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main + успешные тесты → release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сборка архива → artifact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280160"/>
            <a:ext cx="3200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Каждое изменение проверяется автоматически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Порог покрытия 85 % защищает от регресса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Актуальность миграций проверяется в CI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Релизный архив собирается на main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ОРГАНИЗАЦИЯ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82296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Репозиторий: github.com/Uzalov-Gamid/sport-club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70+ небольших коммитов: модели, миграции, триггеры, сервисы, формы, интерфейс, тесты,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Сообщения по соглашению feat / fix / test / docs /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README с инструкцией: migrate → seed_demo → runserver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Демо-данные и создание администратора одной командой seed_demo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Новый Шаблон презентаций_КМЭПТ.pot[Compatibility Mode]" id="{8761158C-B706-4B67-8AF6-F325C54A10D1}" vid="{087C47FC-ABA4-49F7-B1BF-F19EABEA7B3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КМЭПТ Шаблон презентаций</Template>
  <TotalTime>219</TotalTime>
  <Words>142</Words>
  <Application>Microsoft Office PowerPoint</Application>
  <PresentationFormat>Широкоэкранный</PresentationFormat>
  <Paragraphs>48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Wingdings</vt:lpstr>
      <vt:lpstr>Calibri Light</vt:lpstr>
      <vt:lpstr>Times New Roman</vt:lpstr>
      <vt:lpstr>Arial</vt:lpstr>
      <vt:lpstr>KyivType Sans Heavy</vt:lpstr>
      <vt:lpstr>Calibri</vt:lpstr>
      <vt:lpstr>KyivType Sans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Дисциплина: название  дисциплины</dc:title>
  <dc:creator>Валерий Сарычев</dc:creator>
  <cp:lastModifiedBy>Артём Рядинский</cp:lastModifiedBy>
  <cp:revision>28</cp:revision>
  <dcterms:created xsi:type="dcterms:W3CDTF">2021-11-22T05:24:17Z</dcterms:created>
  <dcterms:modified xsi:type="dcterms:W3CDTF">2025-10-26T14:44:04Z</dcterms:modified>
</cp:coreProperties>
</file>