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5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64592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Разработка информационной системы учёта занятий и посещаемости спортивного клуба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404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D1FAE5"/>
                </a:solidFill>
                <a:latin typeface="Calibri"/>
              </a:rPr>
              <a:t>Курсовой проект по дисциплине «Разработка программных модулей» · вариант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Выполнил: Узалов Гамид, группа [группа]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Руководитель: [ФИО преподавателя]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5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400">
                <a:solidFill>
                  <a:srgbClr val="1F2937"/>
                </a:solidFill>
                <a:latin typeface="Calibri"/>
              </a:rPr>
              <a:t>•  Цель: автоматизировать учёт клиентов, записи на занятия, расписание, посещаемость и расчёт стоимости в спортивном клубе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1F2937"/>
                </a:solidFill>
                <a:latin typeface="Calibri"/>
              </a:rPr>
              <a:t>•  Серверная часть: БД с ограничениями, ссылочной целостностью и триггерами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1F2937"/>
                </a:solidFill>
                <a:latin typeface="Calibri"/>
              </a:rPr>
              <a:t>•  Клиентская часть: авторизация, роли «администратор» и «оператор», формы добавления / просмотра / редактирования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1F2937"/>
                </a:solidFill>
                <a:latin typeface="Calibri"/>
              </a:rPr>
              <a:t>•  Запросы по заданию и выходной документ «Расписание зала»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1F2937"/>
                </a:solidFill>
                <a:latin typeface="Calibri"/>
              </a:rPr>
              <a:t>•  Тесты и CI/CD на GitHub Actions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5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Предметная область и требования варианта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400">
                <a:solidFill>
                  <a:srgbClr val="1F2937"/>
                </a:solidFill>
                <a:latin typeface="Calibri"/>
              </a:rPr>
              <a:t>•  Клиент: ФИО, пол, дата рождения, телефон; записывается в одну или несколько секций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1F2937"/>
                </a:solidFill>
                <a:latin typeface="Calibri"/>
              </a:rPr>
              <a:t>•  Группа: секция + тренер + зал + день и время; длительность по умолчанию — 60 минут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1F2937"/>
                </a:solidFill>
                <a:latin typeface="Calibri"/>
              </a:rPr>
              <a:t>•  В группе не более 10 человек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1F2937"/>
                </a:solidFill>
                <a:latin typeface="Calibri"/>
              </a:rPr>
              <a:t>•  Абонемент со скидкой от 3 до 10 %; стоимость занятий считается для каждого клиента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1F2937"/>
                </a:solidFill>
                <a:latin typeface="Calibri"/>
              </a:rPr>
              <a:t>•  Администратор добавляет операторов; логины и пароли хранятся в таблице БД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5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Технологии и архитектура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400">
                <a:solidFill>
                  <a:srgbClr val="1F2937"/>
                </a:solidFill>
                <a:latin typeface="Calibri"/>
              </a:rPr>
              <a:t>•  Python 3.9+, Django 4.2 LTS / 5.2, SQLite (триггеры, CHECK, UNIQUE)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1F2937"/>
                </a:solidFill>
                <a:latin typeface="Calibri"/>
              </a:rPr>
              <a:t>•  MTV: модели и миграции → сервисы (запросы и расчёты) → формы → представления → шаблоны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1F2937"/>
                </a:solidFill>
                <a:latin typeface="Calibri"/>
              </a:rPr>
              <a:t>•  Роли на группах Django, права проверяются на сервере (403)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1F2937"/>
                </a:solidFill>
                <a:latin typeface="Calibri"/>
              </a:rPr>
              <a:t>•  Универсальная фабрика CRUD-представлений для 8 таблиц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1F2937"/>
                </a:solidFill>
                <a:latin typeface="Calibri"/>
              </a:rPr>
              <a:t>•  Тесты: unittest Django + coverage.py; CI: GitHub Actions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5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Модель данных (ER-диаграмма)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5</a:t>
            </a:r>
          </a:p>
        </p:txBody>
      </p:sp>
      <p:pic>
        <p:nvPicPr>
          <p:cNvPr id="5" name="Picture 4" descr="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3571" y="1188720"/>
            <a:ext cx="7634377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5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Триггеры и ограничения на уровне БД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6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6766560" cy="493776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17319"/>
            <a:ext cx="640080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-- Длительность по умолчанию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CREATE TRIGGER trg_group_default_duration_ins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AFTER INSERT ON club_group WHEN NEW.duration_min IS NULL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BEGIN UPDATE club_group SET duration_min = 60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      WHERE id = NEW.id; END;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-- Не более 10 человек в группе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CREATE TRIGGER trg_enrollment_capacity_ins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BEFORE INSERT ON club_enrollment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WHEN NEW.status IN ('booked','active')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BEGIN SELECT RAISE(ABORT,'В группе уже 10 человек')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 WHERE (SELECT COUNT(*) FROM club_enrollment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        WHERE group_id=NEW.group_id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E5E7EB"/>
                </a:solidFill>
                <a:latin typeface="Courier New"/>
              </a:rPr>
              <a:t>          AND status IN ('booked','active')) &gt;= 10; END;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1371600"/>
            <a:ext cx="4297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1F2937"/>
                </a:solidFill>
                <a:latin typeface="Calibri"/>
              </a:rPr>
              <a:t>•  CHECK: скидка 3–10 %, дата окончания ≥ начала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1F2937"/>
                </a:solidFill>
                <a:latin typeface="Calibri"/>
              </a:rPr>
              <a:t>•  UNIQUE: клиент — группа, запись — день посещения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1F2937"/>
                </a:solidFill>
                <a:latin typeface="Calibri"/>
              </a:rPr>
              <a:t>•  PROTECT: нельзя удалить секцию, тренера, зал с группами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1F2937"/>
                </a:solidFill>
                <a:latin typeface="Calibri"/>
              </a:rPr>
              <a:t>•  Первичные ключи — AUTOINCREMENT вместо триггера (особенность SQLite)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5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Роли и права доступа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400">
                <a:solidFill>
                  <a:srgbClr val="1F2937"/>
                </a:solidFill>
                <a:latin typeface="Calibri"/>
              </a:rPr>
              <a:t>•  Оператор: клиенты, записи, посещения, абонементы, запросы, расчёт стоимости, печать расписания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1F2937"/>
                </a:solidFill>
                <a:latin typeface="Calibri"/>
              </a:rPr>
              <a:t>•  Администратор: всё это + справочники (секции, тренеры, залы, группы) + добавление операторов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1F2937"/>
                </a:solidFill>
                <a:latin typeface="Calibri"/>
              </a:rPr>
              <a:t>•  Оператор на страницах администратора получает 403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1F2937"/>
                </a:solidFill>
                <a:latin typeface="Calibri"/>
              </a:rPr>
              <a:t>•  Пароли хранятся только в виде хешей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5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Интерфейс: авторизация и главное меню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8</a:t>
            </a:r>
          </a:p>
        </p:txBody>
      </p:sp>
      <p:pic>
        <p:nvPicPr>
          <p:cNvPr id="5" name="Picture 4" descr="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3657600" cy="2228850"/>
          </a:xfrm>
          <a:prstGeom prst="rect">
            <a:avLst/>
          </a:prstGeom>
        </p:spPr>
      </p:pic>
      <p:pic>
        <p:nvPicPr>
          <p:cNvPr id="6" name="Picture 5" descr="home_oper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1280160"/>
            <a:ext cx="3931920" cy="2396013"/>
          </a:xfrm>
          <a:prstGeom prst="rect">
            <a:avLst/>
          </a:prstGeom>
        </p:spPr>
      </p:pic>
      <p:pic>
        <p:nvPicPr>
          <p:cNvPr id="7" name="Picture 6" descr="home_adm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8160" y="1280160"/>
            <a:ext cx="3657600" cy="2228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5120640"/>
            <a:ext cx="11430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0">
                <a:solidFill>
                  <a:srgbClr val="6B7280"/>
                </a:solidFill>
                <a:latin typeface="Calibri"/>
              </a:rPr>
              <a:t>Набор плиток меню зависит от роли пользователя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5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Формы добавления, просмотра и редактирования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9</a:t>
            </a:r>
          </a:p>
        </p:txBody>
      </p:sp>
      <p:pic>
        <p:nvPicPr>
          <p:cNvPr id="5" name="Picture 4" descr="cli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5669280" cy="3454717"/>
          </a:xfrm>
          <a:prstGeom prst="rect">
            <a:avLst/>
          </a:prstGeom>
        </p:spPr>
      </p:pic>
      <p:pic>
        <p:nvPicPr>
          <p:cNvPr id="6" name="Picture 5" descr="enrollm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669280" cy="34547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66928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0">
                <a:solidFill>
                  <a:srgbClr val="6B7280"/>
                </a:solidFill>
                <a:latin typeface="Calibri"/>
              </a:rPr>
              <a:t>Лимит группы: при 11-й записи форма показывает ошибку, а БД отклоняет вставку триггером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5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Запросы по заданию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10</a:t>
            </a:r>
          </a:p>
        </p:txBody>
      </p:sp>
      <p:pic>
        <p:nvPicPr>
          <p:cNvPr id="5" name="Picture 4" descr="q_grou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5669280" cy="3454717"/>
          </a:xfrm>
          <a:prstGeom prst="rect">
            <a:avLst/>
          </a:prstGeom>
        </p:spPr>
      </p:pic>
      <p:pic>
        <p:nvPicPr>
          <p:cNvPr id="6" name="Picture 5" descr="q_ge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669280" cy="34547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66928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0">
                <a:solidFill>
                  <a:srgbClr val="6B7280"/>
                </a:solidFill>
                <a:latin typeface="Calibri"/>
              </a:rPr>
              <a:t>Слева — группы и число клиентов на сегодня; справа — клиенты по видам занятий (мужчины / женщины)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5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Выходной документ и расчёт стоимости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11</a:t>
            </a:r>
          </a:p>
        </p:txBody>
      </p:sp>
      <p:pic>
        <p:nvPicPr>
          <p:cNvPr id="5" name="Picture 4" descr="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5669280" cy="3454717"/>
          </a:xfrm>
          <a:prstGeom prst="rect">
            <a:avLst/>
          </a:prstGeom>
        </p:spPr>
      </p:pic>
      <p:pic>
        <p:nvPicPr>
          <p:cNvPr id="6" name="Picture 5" descr="co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669280" cy="34547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66928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800" b="0">
                <a:solidFill>
                  <a:srgbClr val="6B7280"/>
                </a:solidFill>
                <a:latin typeface="Calibri"/>
              </a:rPr>
              <a:t>Расписание зала по дням недели (с печатью) и стоимость занятий клиента с учётом скидки абонемента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5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Тестирование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3474720" cy="2011680"/>
          </a:xfrm>
          <a:prstGeom prst="rect">
            <a:avLst/>
          </a:prstGeom>
          <a:solidFill>
            <a:srgbClr val="EE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3474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5400" b="1">
                <a:solidFill>
                  <a:srgbClr val="14532D"/>
                </a:solidFill>
                <a:latin typeface="Calibri"/>
              </a:rPr>
              <a:t>58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51760"/>
            <a:ext cx="3474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автоматических теста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371600"/>
            <a:ext cx="3474720" cy="2011680"/>
          </a:xfrm>
          <a:prstGeom prst="rect">
            <a:avLst/>
          </a:prstGeom>
          <a:solidFill>
            <a:srgbClr val="EE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1463040"/>
            <a:ext cx="3474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5400" b="1">
                <a:solidFill>
                  <a:srgbClr val="14532D"/>
                </a:solidFill>
                <a:latin typeface="Calibri"/>
              </a:rPr>
              <a:t>97 %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651760"/>
            <a:ext cx="3474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покрытие кода тестами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59" y="1371600"/>
            <a:ext cx="3474720" cy="2011680"/>
          </a:xfrm>
          <a:prstGeom prst="rect">
            <a:avLst/>
          </a:prstGeom>
          <a:solidFill>
            <a:srgbClr val="EE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59" y="1463040"/>
            <a:ext cx="3474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5400" b="1">
                <a:solidFill>
                  <a:srgbClr val="14532D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59" y="2651760"/>
            <a:ext cx="3474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слоя: БД-триггеры, сервисы, веб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49039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•  Триггеры проверяются на реальной БД: ровно 10 человек, 11-й, отменённая запись, повторная активация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•  Права ролей, добавление оператора, 403 для неавторизованных действий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•  Расчёт стоимости: скидка, истёкший абонемент, пропуски, период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5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CI/CD: GitHub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6583680" cy="384048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508760"/>
            <a:ext cx="621792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E5E7EB"/>
                </a:solidFill>
                <a:latin typeface="Courier New"/>
              </a:rPr>
              <a:t>push / pull request  →  test (Py 3.9/Dj 4.2, Py 3.12–3.13/Dj 5.2)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5E7EB"/>
                </a:solidFill>
                <a:latin typeface="Courier New"/>
              </a:rPr>
              <a:t>   1. pip install -r requirements.txt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5E7EB"/>
                </a:solidFill>
                <a:latin typeface="Courier New"/>
              </a:rPr>
              <a:t>   2. manage.py check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5E7EB"/>
                </a:solidFill>
                <a:latin typeface="Courier New"/>
              </a:rPr>
              <a:t>   3. makemigrations --check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5E7EB"/>
                </a:solidFill>
                <a:latin typeface="Courier New"/>
              </a:rPr>
              <a:t>   4. coverage run manage.py test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5E7EB"/>
                </a:solidFill>
                <a:latin typeface="Courier New"/>
              </a:rPr>
              <a:t>   5. coverage report --fail-under=85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5E7EB"/>
                </a:solidFill>
                <a:latin typeface="Courier New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5E7EB"/>
                </a:solidFill>
                <a:latin typeface="Courier New"/>
              </a:rPr>
              <a:t>main + успешные тесты  →  deploy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5E7EB"/>
                </a:solidFill>
                <a:latin typeface="Courier New"/>
              </a:rPr>
              <a:t>   сборка архива релиза → artifact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1554480"/>
            <a:ext cx="42976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•  Репозиторий: Uzalov-Gamid / sport-club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•  История разработки — серия небольших коммитов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•  Каждое изменение проверяется автоматически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53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Итоги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1200" b="0">
                <a:solidFill>
                  <a:srgbClr val="6B7280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400">
                <a:solidFill>
                  <a:srgbClr val="1F2937"/>
                </a:solidFill>
                <a:latin typeface="Calibri"/>
              </a:rPr>
              <a:t>•  Реализованы все пункты варианта 10: БД, триггеры, авторизация, роли, формы, два запроса, выходной документ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1F2937"/>
                </a:solidFill>
                <a:latin typeface="Calibri"/>
              </a:rPr>
              <a:t>•  Серверная логика (лимит группы, длительность, скидки) защищена на уровне БД и покрыта тестами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1F2937"/>
                </a:solidFill>
                <a:latin typeface="Calibri"/>
              </a:rPr>
              <a:t>•  Отличие от текста задания: ключи генерирует автоинкремент SQLite вместо триггера</a:t>
            </a:r>
          </a:p>
          <a:p>
            <a:pPr>
              <a:spcAft>
                <a:spcPts val="1200"/>
              </a:spcAft>
            </a:pPr>
            <a:r>
              <a:rPr sz="2400">
                <a:solidFill>
                  <a:srgbClr val="1F2937"/>
                </a:solidFill>
                <a:latin typeface="Calibri"/>
              </a:rPr>
              <a:t>•  Развитие: журнал действий, уведомления, отчёты по выручке, PostgreSQL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1">
                <a:solidFill>
                  <a:srgbClr val="14532D"/>
                </a:solidFill>
                <a:latin typeface="Calibri"/>
              </a:rPr>
              <a:t>Спасибо за внимание!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